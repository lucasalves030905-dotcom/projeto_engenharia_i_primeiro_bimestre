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Arial Italics" charset="1" panose="020B060402020209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Slides/notesSlide2.xml" Type="http://schemas.openxmlformats.org/officeDocument/2006/relationships/notesSlide"/><Relationship Id="rId16" Target="notesSlides/notesSlide3.xml" Type="http://schemas.openxmlformats.org/officeDocument/2006/relationships/notesSlide"/><Relationship Id="rId17" Target="fonts/font17.fntdata" Type="http://schemas.openxmlformats.org/officeDocument/2006/relationships/font"/><Relationship Id="rId18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56210" cy="10306050"/>
            <a:chOff x="0" y="0"/>
            <a:chExt cx="20828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8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08280">
                  <a:moveTo>
                    <a:pt x="0" y="0"/>
                  </a:moveTo>
                  <a:lnTo>
                    <a:pt x="208280" y="0"/>
                  </a:lnTo>
                  <a:lnTo>
                    <a:pt x="208280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FD229"/>
            </a:solidFill>
          </p:spPr>
        </p:sp>
      </p:grpSp>
      <p:sp>
        <p:nvSpPr>
          <p:cNvPr name="AutoShape 4" id="4"/>
          <p:cNvSpPr/>
          <p:nvPr/>
        </p:nvSpPr>
        <p:spPr>
          <a:xfrm rot="1980">
            <a:off x="886777" y="475297"/>
            <a:ext cx="16468725" cy="0"/>
          </a:xfrm>
          <a:prstGeom prst="line">
            <a:avLst/>
          </a:prstGeom>
          <a:ln cap="rnd" w="9525">
            <a:solidFill>
              <a:srgbClr val="24262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69848" y="932688"/>
            <a:ext cx="8778240" cy="329184"/>
            <a:chOff x="0" y="0"/>
            <a:chExt cx="11704320" cy="4389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04320" cy="438912"/>
            </a:xfrm>
            <a:custGeom>
              <a:avLst/>
              <a:gdLst/>
              <a:ahLst/>
              <a:cxnLst/>
              <a:rect r="r" b="b" t="t" l="l"/>
              <a:pathLst>
                <a:path h="438912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17043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92"/>
                </a:lnSpc>
              </a:pPr>
              <a:r>
                <a:rPr lang="en-US" b="true" sz="1410" spc="180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LABORATÓRIO DE SIMULAÇÃO  /  GRÁFICOS 3D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2416" y="1673352"/>
            <a:ext cx="7818120" cy="1069848"/>
            <a:chOff x="0" y="0"/>
            <a:chExt cx="10424160" cy="14264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2416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24160" cy="1464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460"/>
                </a:lnSpc>
              </a:pPr>
              <a:r>
                <a:rPr lang="en-US" b="true" sz="7050" spc="4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SST-1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42416" y="2647188"/>
            <a:ext cx="8092440" cy="1056132"/>
            <a:chOff x="0" y="0"/>
            <a:chExt cx="10789920" cy="14081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89920" cy="1408176"/>
            </a:xfrm>
            <a:custGeom>
              <a:avLst/>
              <a:gdLst/>
              <a:ahLst/>
              <a:cxnLst/>
              <a:rect r="r" b="b" t="t" l="l"/>
              <a:pathLst>
                <a:path h="140817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408176"/>
                  </a:lnTo>
                  <a:lnTo>
                    <a:pt x="0" y="14081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00" r="0" b="-993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0789920" cy="1436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739"/>
                </a:lnSpc>
              </a:pPr>
              <a:r>
                <a:rPr lang="en-US" b="true" sz="6450" spc="60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OC LAB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" y="3909060"/>
            <a:ext cx="8435340" cy="1124712"/>
            <a:chOff x="0" y="0"/>
            <a:chExt cx="11247120" cy="14996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47120" cy="1499616"/>
            </a:xfrm>
            <a:custGeom>
              <a:avLst/>
              <a:gdLst/>
              <a:ahLst/>
              <a:cxnLst/>
              <a:rect r="r" b="b" t="t" l="l"/>
              <a:pathLst>
                <a:path h="1499616" w="11247120">
                  <a:moveTo>
                    <a:pt x="0" y="0"/>
                  </a:moveTo>
                  <a:lnTo>
                    <a:pt x="11247120" y="0"/>
                  </a:lnTo>
                  <a:lnTo>
                    <a:pt x="1124712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1247120" cy="1518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0"/>
                </a:lnSpc>
              </a:pPr>
              <a:r>
                <a:rPr lang="en-US" sz="2925">
                  <a:solidFill>
                    <a:srgbClr val="F5F4EF"/>
                  </a:solidFill>
                  <a:latin typeface="Arial"/>
                  <a:ea typeface="Arial"/>
                  <a:cs typeface="Arial"/>
                  <a:sym typeface="Arial"/>
                </a:rPr>
                <a:t>Simulador de overclock da</a:t>
              </a:r>
            </a:p>
            <a:p>
              <a:pPr algn="l">
                <a:lnSpc>
                  <a:spcPts val="3510"/>
                </a:lnSpc>
              </a:pPr>
              <a:r>
                <a:rPr lang="en-US" sz="2925">
                  <a:solidFill>
                    <a:srgbClr val="F5F4EF"/>
                  </a:solidFill>
                  <a:latin typeface="Arial"/>
                  <a:ea typeface="Arial"/>
                  <a:cs typeface="Arial"/>
                  <a:sym typeface="Arial"/>
                </a:rPr>
                <a:t>3dfx Voodoo Graphics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96660">
            <a:off x="1068305" y="5307520"/>
            <a:ext cx="2033054" cy="0"/>
          </a:xfrm>
          <a:prstGeom prst="line">
            <a:avLst/>
          </a:prstGeom>
          <a:ln cap="rnd" w="2857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097280" y="5596128"/>
            <a:ext cx="8298180" cy="850392"/>
            <a:chOff x="0" y="0"/>
            <a:chExt cx="11064240" cy="11338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6424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064240">
                  <a:moveTo>
                    <a:pt x="0" y="0"/>
                  </a:moveTo>
                  <a:lnTo>
                    <a:pt x="11064240" y="0"/>
                  </a:lnTo>
                  <a:lnTo>
                    <a:pt x="1106424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136" r="0" b="-14013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106424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B3B5BD"/>
                  </a:solidFill>
                  <a:latin typeface="Arial"/>
                  <a:ea typeface="Arial"/>
                  <a:cs typeface="Arial"/>
                  <a:sym typeface="Arial"/>
                </a:rPr>
                <a:t>Um painel interativo para explorar desempenho estimado,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B3B5BD"/>
                  </a:solidFill>
                  <a:latin typeface="Arial"/>
                  <a:ea typeface="Arial"/>
                  <a:cs typeface="Arial"/>
                  <a:sym typeface="Arial"/>
                </a:rPr>
                <a:t>potência, comportamento térmico e estabilidade.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0136" y="6617684"/>
            <a:ext cx="1468183" cy="439484"/>
            <a:chOff x="0" y="0"/>
            <a:chExt cx="1957578" cy="5859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57578" cy="585978"/>
            </a:xfrm>
            <a:custGeom>
              <a:avLst/>
              <a:gdLst/>
              <a:ahLst/>
              <a:cxnLst/>
              <a:rect r="r" b="b" t="t" l="l"/>
              <a:pathLst>
                <a:path h="585978" w="1957578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1806321" y="0"/>
                  </a:lnTo>
                  <a:cubicBezTo>
                    <a:pt x="1889887" y="0"/>
                    <a:pt x="1957578" y="67691"/>
                    <a:pt x="1957578" y="151257"/>
                  </a:cubicBezTo>
                  <a:lnTo>
                    <a:pt x="1957578" y="434721"/>
                  </a:lnTo>
                  <a:cubicBezTo>
                    <a:pt x="1957578" y="518287"/>
                    <a:pt x="1889887" y="585978"/>
                    <a:pt x="1806321" y="585978"/>
                  </a:cubicBezTo>
                  <a:lnTo>
                    <a:pt x="151257" y="585978"/>
                  </a:lnTo>
                  <a:cubicBezTo>
                    <a:pt x="67691" y="585978"/>
                    <a:pt x="0" y="518287"/>
                    <a:pt x="0" y="434721"/>
                  </a:cubicBezTo>
                  <a:close/>
                </a:path>
              </a:pathLst>
            </a:custGeom>
            <a:solidFill>
              <a:srgbClr val="20222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61872" y="6638544"/>
            <a:ext cx="1124712" cy="384048"/>
            <a:chOff x="0" y="0"/>
            <a:chExt cx="1499616" cy="5120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99616" cy="512064"/>
            </a:xfrm>
            <a:custGeom>
              <a:avLst/>
              <a:gdLst/>
              <a:ahLst/>
              <a:cxnLst/>
              <a:rect r="r" b="b" t="t" l="l"/>
              <a:pathLst>
                <a:path h="512064" w="1499616">
                  <a:moveTo>
                    <a:pt x="0" y="0"/>
                  </a:moveTo>
                  <a:lnTo>
                    <a:pt x="1499616" y="0"/>
                  </a:lnTo>
                  <a:lnTo>
                    <a:pt x="149961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3" r="0" b="-706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499616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74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708624" y="6617684"/>
            <a:ext cx="1769936" cy="439484"/>
            <a:chOff x="0" y="0"/>
            <a:chExt cx="2359914" cy="5859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59914" cy="585978"/>
            </a:xfrm>
            <a:custGeom>
              <a:avLst/>
              <a:gdLst/>
              <a:ahLst/>
              <a:cxnLst/>
              <a:rect r="r" b="b" t="t" l="l"/>
              <a:pathLst>
                <a:path h="585978" w="2359914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2208657" y="0"/>
                  </a:lnTo>
                  <a:cubicBezTo>
                    <a:pt x="2292223" y="0"/>
                    <a:pt x="2359914" y="67691"/>
                    <a:pt x="2359914" y="151257"/>
                  </a:cubicBezTo>
                  <a:lnTo>
                    <a:pt x="2359914" y="434721"/>
                  </a:lnTo>
                  <a:cubicBezTo>
                    <a:pt x="2359914" y="518287"/>
                    <a:pt x="2292223" y="585978"/>
                    <a:pt x="2208657" y="585978"/>
                  </a:cubicBezTo>
                  <a:lnTo>
                    <a:pt x="151257" y="585978"/>
                  </a:lnTo>
                  <a:cubicBezTo>
                    <a:pt x="67691" y="585978"/>
                    <a:pt x="0" y="518287"/>
                    <a:pt x="0" y="434721"/>
                  </a:cubicBezTo>
                  <a:close/>
                </a:path>
              </a:pathLst>
            </a:custGeom>
            <a:solidFill>
              <a:srgbClr val="20222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880360" y="6638544"/>
            <a:ext cx="1426464" cy="384048"/>
            <a:chOff x="0" y="0"/>
            <a:chExt cx="1901952" cy="5120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1952" cy="512064"/>
            </a:xfrm>
            <a:custGeom>
              <a:avLst/>
              <a:gdLst/>
              <a:ahLst/>
              <a:cxnLst/>
              <a:rect r="r" b="b" t="t" l="l"/>
              <a:pathLst>
                <a:path h="512064" w="1901952">
                  <a:moveTo>
                    <a:pt x="0" y="0"/>
                  </a:moveTo>
                  <a:lnTo>
                    <a:pt x="1901952" y="0"/>
                  </a:lnTo>
                  <a:lnTo>
                    <a:pt x="190195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72" r="0" b="-2237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901952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74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STREAMLIT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628864" y="6617684"/>
            <a:ext cx="3031808" cy="439484"/>
            <a:chOff x="0" y="0"/>
            <a:chExt cx="4042410" cy="5859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42410" cy="585978"/>
            </a:xfrm>
            <a:custGeom>
              <a:avLst/>
              <a:gdLst/>
              <a:ahLst/>
              <a:cxnLst/>
              <a:rect r="r" b="b" t="t" l="l"/>
              <a:pathLst>
                <a:path h="585978" w="4042410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3891153" y="0"/>
                  </a:lnTo>
                  <a:cubicBezTo>
                    <a:pt x="3974719" y="0"/>
                    <a:pt x="4042410" y="67691"/>
                    <a:pt x="4042410" y="151257"/>
                  </a:cubicBezTo>
                  <a:lnTo>
                    <a:pt x="4042410" y="434721"/>
                  </a:lnTo>
                  <a:cubicBezTo>
                    <a:pt x="4042410" y="518287"/>
                    <a:pt x="3974719" y="585978"/>
                    <a:pt x="3891153" y="585978"/>
                  </a:cubicBezTo>
                  <a:lnTo>
                    <a:pt x="151257" y="585978"/>
                  </a:lnTo>
                  <a:cubicBezTo>
                    <a:pt x="67691" y="585978"/>
                    <a:pt x="0" y="518287"/>
                    <a:pt x="0" y="434721"/>
                  </a:cubicBezTo>
                  <a:close/>
                </a:path>
              </a:pathLst>
            </a:custGeom>
            <a:solidFill>
              <a:srgbClr val="20222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800600" y="6638544"/>
            <a:ext cx="2688336" cy="384048"/>
            <a:chOff x="0" y="0"/>
            <a:chExt cx="3584448" cy="5120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84448" cy="512064"/>
            </a:xfrm>
            <a:custGeom>
              <a:avLst/>
              <a:gdLst/>
              <a:ahLst/>
              <a:cxnLst/>
              <a:rect r="r" b="b" t="t" l="l"/>
              <a:pathLst>
                <a:path h="512064" w="3584448">
                  <a:moveTo>
                    <a:pt x="0" y="0"/>
                  </a:moveTo>
                  <a:lnTo>
                    <a:pt x="3584448" y="0"/>
                  </a:lnTo>
                  <a:lnTo>
                    <a:pt x="35844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5844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74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SQLITE + SQLALCHEMY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11276" y="980408"/>
            <a:ext cx="6940868" cy="6255068"/>
            <a:chOff x="0" y="0"/>
            <a:chExt cx="9254490" cy="83400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254489" cy="8340089"/>
            </a:xfrm>
            <a:custGeom>
              <a:avLst/>
              <a:gdLst/>
              <a:ahLst/>
              <a:cxnLst/>
              <a:rect r="r" b="b" t="t" l="l"/>
              <a:pathLst>
                <a:path h="8340089" w="9254489">
                  <a:moveTo>
                    <a:pt x="0" y="146558"/>
                  </a:moveTo>
                  <a:cubicBezTo>
                    <a:pt x="0" y="65659"/>
                    <a:pt x="65659" y="0"/>
                    <a:pt x="146558" y="0"/>
                  </a:cubicBezTo>
                  <a:lnTo>
                    <a:pt x="9107932" y="0"/>
                  </a:lnTo>
                  <a:cubicBezTo>
                    <a:pt x="9188958" y="0"/>
                    <a:pt x="9254489" y="65659"/>
                    <a:pt x="9254489" y="146558"/>
                  </a:cubicBezTo>
                  <a:lnTo>
                    <a:pt x="9254489" y="8193532"/>
                  </a:lnTo>
                  <a:cubicBezTo>
                    <a:pt x="9254489" y="8274558"/>
                    <a:pt x="9188831" y="8340089"/>
                    <a:pt x="9107932" y="8340089"/>
                  </a:cubicBezTo>
                  <a:lnTo>
                    <a:pt x="146558" y="8340089"/>
                  </a:lnTo>
                  <a:cubicBezTo>
                    <a:pt x="65659" y="8340090"/>
                    <a:pt x="0" y="8274431"/>
                    <a:pt x="0" y="8193532"/>
                  </a:cubicBezTo>
                  <a:close/>
                </a:path>
              </a:pathLst>
            </a:custGeom>
            <a:solidFill>
              <a:srgbClr val="191B20"/>
            </a:solidFill>
            <a:ln w="14288" cap="sq">
              <a:solidFill>
                <a:srgbClr val="2A2D35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725912" y="1344168"/>
            <a:ext cx="5897880" cy="301752"/>
            <a:chOff x="0" y="0"/>
            <a:chExt cx="7863840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863840" cy="402336"/>
            </a:xfrm>
            <a:custGeom>
              <a:avLst/>
              <a:gdLst/>
              <a:ahLst/>
              <a:cxnLst/>
              <a:rect r="r" b="b" t="t" l="l"/>
              <a:pathLst>
                <a:path h="402336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786384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5"/>
                </a:lnSpc>
              </a:pPr>
              <a:r>
                <a:rPr lang="en-US" b="true" sz="1305" spc="157">
                  <a:solidFill>
                    <a:srgbClr val="B3B5B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HISTORICAL GRAPHICS CORE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114840">
            <a:off x="11454070" y="2959265"/>
            <a:ext cx="655949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89340">
            <a:off x="11266884" y="3650552"/>
            <a:ext cx="843096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125879">
            <a:off x="15112108" y="3074479"/>
            <a:ext cx="598380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rot="105540">
            <a:off x="15112136" y="4010596"/>
            <a:ext cx="713527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rot="5287620">
            <a:off x="12483798" y="2246376"/>
            <a:ext cx="670350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rot="5298540">
            <a:off x="13758377" y="2210372"/>
            <a:ext cx="742321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rot="5234220">
            <a:off x="12591726" y="5810821"/>
            <a:ext cx="45448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 rot="5256900">
            <a:off x="13866324" y="5846826"/>
            <a:ext cx="526428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11345228" y="2858452"/>
            <a:ext cx="124739" cy="124739"/>
            <a:chOff x="0" y="0"/>
            <a:chExt cx="166319" cy="16631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6370" cy="166370"/>
            </a:xfrm>
            <a:custGeom>
              <a:avLst/>
              <a:gdLst/>
              <a:ahLst/>
              <a:cxnLst/>
              <a:rect r="r" b="b" t="t" l="l"/>
              <a:pathLst>
                <a:path h="166370" w="166370">
                  <a:moveTo>
                    <a:pt x="0" y="83185"/>
                  </a:moveTo>
                  <a:cubicBezTo>
                    <a:pt x="0" y="37211"/>
                    <a:pt x="37211" y="0"/>
                    <a:pt x="83185" y="0"/>
                  </a:cubicBezTo>
                  <a:cubicBezTo>
                    <a:pt x="129159" y="0"/>
                    <a:pt x="166370" y="37211"/>
                    <a:pt x="166370" y="83185"/>
                  </a:cubicBezTo>
                  <a:cubicBezTo>
                    <a:pt x="166370" y="129159"/>
                    <a:pt x="129032" y="166370"/>
                    <a:pt x="83185" y="166370"/>
                  </a:cubicBezTo>
                  <a:cubicBezTo>
                    <a:pt x="37338" y="166370"/>
                    <a:pt x="0" y="129032"/>
                    <a:pt x="0" y="83185"/>
                  </a:cubicBezTo>
                  <a:close/>
                </a:path>
              </a:pathLst>
            </a:custGeom>
            <a:solidFill>
              <a:srgbClr val="FFD229"/>
            </a:solidFill>
            <a:ln w="9525" cap="sq">
              <a:solidFill>
                <a:srgbClr val="FFD229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1201210" y="3549739"/>
            <a:ext cx="124739" cy="124739"/>
            <a:chOff x="0" y="0"/>
            <a:chExt cx="166319" cy="16631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6370" cy="166370"/>
            </a:xfrm>
            <a:custGeom>
              <a:avLst/>
              <a:gdLst/>
              <a:ahLst/>
              <a:cxnLst/>
              <a:rect r="r" b="b" t="t" l="l"/>
              <a:pathLst>
                <a:path h="166370" w="166370">
                  <a:moveTo>
                    <a:pt x="0" y="83185"/>
                  </a:moveTo>
                  <a:cubicBezTo>
                    <a:pt x="0" y="37211"/>
                    <a:pt x="37211" y="0"/>
                    <a:pt x="83185" y="0"/>
                  </a:cubicBezTo>
                  <a:cubicBezTo>
                    <a:pt x="129159" y="0"/>
                    <a:pt x="166370" y="37211"/>
                    <a:pt x="166370" y="83185"/>
                  </a:cubicBezTo>
                  <a:cubicBezTo>
                    <a:pt x="166370" y="129159"/>
                    <a:pt x="129032" y="166370"/>
                    <a:pt x="83185" y="166370"/>
                  </a:cubicBezTo>
                  <a:cubicBezTo>
                    <a:pt x="37338" y="166370"/>
                    <a:pt x="0" y="129032"/>
                    <a:pt x="0" y="83185"/>
                  </a:cubicBezTo>
                  <a:close/>
                </a:path>
              </a:pathLst>
            </a:custGeom>
            <a:solidFill>
              <a:srgbClr val="FFD229"/>
            </a:solidFill>
            <a:ln w="9525" cap="sq">
              <a:solidFill>
                <a:srgbClr val="FFD229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5593758" y="2959265"/>
            <a:ext cx="124739" cy="124739"/>
            <a:chOff x="0" y="0"/>
            <a:chExt cx="166319" cy="16631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66370" cy="166370"/>
            </a:xfrm>
            <a:custGeom>
              <a:avLst/>
              <a:gdLst/>
              <a:ahLst/>
              <a:cxnLst/>
              <a:rect r="r" b="b" t="t" l="l"/>
              <a:pathLst>
                <a:path h="166370" w="166370">
                  <a:moveTo>
                    <a:pt x="0" y="83185"/>
                  </a:moveTo>
                  <a:cubicBezTo>
                    <a:pt x="0" y="37211"/>
                    <a:pt x="37211" y="0"/>
                    <a:pt x="83185" y="0"/>
                  </a:cubicBezTo>
                  <a:cubicBezTo>
                    <a:pt x="129159" y="0"/>
                    <a:pt x="166370" y="37211"/>
                    <a:pt x="166370" y="83185"/>
                  </a:cubicBezTo>
                  <a:cubicBezTo>
                    <a:pt x="166370" y="129159"/>
                    <a:pt x="129032" y="166370"/>
                    <a:pt x="83185" y="166370"/>
                  </a:cubicBezTo>
                  <a:cubicBezTo>
                    <a:pt x="37338" y="166370"/>
                    <a:pt x="0" y="129032"/>
                    <a:pt x="0" y="83185"/>
                  </a:cubicBezTo>
                  <a:close/>
                </a:path>
              </a:pathLst>
            </a:custGeom>
            <a:solidFill>
              <a:srgbClr val="FFD229"/>
            </a:solidFill>
            <a:ln w="9525" cap="sq">
              <a:solidFill>
                <a:srgbClr val="FFD229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5708973" y="3895382"/>
            <a:ext cx="124739" cy="124739"/>
            <a:chOff x="0" y="0"/>
            <a:chExt cx="166319" cy="16631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66370" cy="166370"/>
            </a:xfrm>
            <a:custGeom>
              <a:avLst/>
              <a:gdLst/>
              <a:ahLst/>
              <a:cxnLst/>
              <a:rect r="r" b="b" t="t" l="l"/>
              <a:pathLst>
                <a:path h="166370" w="166370">
                  <a:moveTo>
                    <a:pt x="0" y="83185"/>
                  </a:moveTo>
                  <a:cubicBezTo>
                    <a:pt x="0" y="37211"/>
                    <a:pt x="37211" y="0"/>
                    <a:pt x="83185" y="0"/>
                  </a:cubicBezTo>
                  <a:cubicBezTo>
                    <a:pt x="129159" y="0"/>
                    <a:pt x="166370" y="37211"/>
                    <a:pt x="166370" y="83185"/>
                  </a:cubicBezTo>
                  <a:cubicBezTo>
                    <a:pt x="166370" y="129159"/>
                    <a:pt x="129032" y="166370"/>
                    <a:pt x="83185" y="166370"/>
                  </a:cubicBezTo>
                  <a:cubicBezTo>
                    <a:pt x="37338" y="166370"/>
                    <a:pt x="0" y="129032"/>
                    <a:pt x="0" y="83185"/>
                  </a:cubicBezTo>
                  <a:close/>
                </a:path>
              </a:pathLst>
            </a:custGeom>
            <a:solidFill>
              <a:srgbClr val="FFD229"/>
            </a:solidFill>
            <a:ln w="9525" cap="sq">
              <a:solidFill>
                <a:srgbClr val="FFD229"/>
              </a:solidFill>
              <a:prstDash val="solid"/>
              <a:miter/>
            </a:ln>
          </p:spPr>
        </p:sp>
      </p:grpSp>
      <p:sp>
        <p:nvSpPr>
          <p:cNvPr name="AutoShape 57" id="57"/>
          <p:cNvSpPr/>
          <p:nvPr/>
        </p:nvSpPr>
        <p:spPr>
          <a:xfrm rot="232800">
            <a:off x="11800018" y="2887256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rot="232800">
            <a:off x="15112432" y="2887256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 rot="5167200">
            <a:off x="12260875" y="2426398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 rot="5167200">
            <a:off x="12260875" y="5738812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 rot="232800">
            <a:off x="11800018" y="3319310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 rot="232800">
            <a:off x="15112432" y="3319310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 rot="5167200">
            <a:off x="12692929" y="2426398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rot="5167200">
            <a:off x="12692929" y="5738812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rot="232800">
            <a:off x="11800018" y="3751364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rot="232800">
            <a:off x="15112432" y="3751364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rot="5167200">
            <a:off x="13124983" y="2426398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rot="5167200">
            <a:off x="13124983" y="5738812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 rot="232800">
            <a:off x="11800018" y="4183418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 rot="232800">
            <a:off x="15112432" y="4183418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1" id="71"/>
          <p:cNvSpPr/>
          <p:nvPr/>
        </p:nvSpPr>
        <p:spPr>
          <a:xfrm rot="5167200">
            <a:off x="13557037" y="2426398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 rot="5167200">
            <a:off x="13557037" y="5738812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3" id="73"/>
          <p:cNvSpPr/>
          <p:nvPr/>
        </p:nvSpPr>
        <p:spPr>
          <a:xfrm rot="232800">
            <a:off x="11800018" y="4615472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rot="232800">
            <a:off x="15112432" y="4615472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rot="5167200">
            <a:off x="13989091" y="2426398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rot="5167200">
            <a:off x="13989091" y="5738812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 rot="232800">
            <a:off x="11800018" y="5047526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rot="232800">
            <a:off x="15112432" y="5047526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rot="5167200">
            <a:off x="14421145" y="2426398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 rot="5167200">
            <a:off x="14421145" y="5738812"/>
            <a:ext cx="309705" cy="0"/>
          </a:xfrm>
          <a:prstGeom prst="line">
            <a:avLst/>
          </a:prstGeom>
          <a:ln cap="rnd" w="9525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1" id="81"/>
          <p:cNvGrpSpPr/>
          <p:nvPr/>
        </p:nvGrpSpPr>
        <p:grpSpPr>
          <a:xfrm rot="0">
            <a:off x="12091740" y="2568035"/>
            <a:ext cx="3038666" cy="3038666"/>
            <a:chOff x="0" y="0"/>
            <a:chExt cx="4051554" cy="405155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051554" cy="4051554"/>
            </a:xfrm>
            <a:custGeom>
              <a:avLst/>
              <a:gdLst/>
              <a:ahLst/>
              <a:cxnLst/>
              <a:rect r="r" b="b" t="t" l="l"/>
              <a:pathLst>
                <a:path h="4051554" w="4051554">
                  <a:moveTo>
                    <a:pt x="0" y="0"/>
                  </a:moveTo>
                  <a:lnTo>
                    <a:pt x="4051554" y="0"/>
                  </a:lnTo>
                  <a:lnTo>
                    <a:pt x="4051554" y="4051554"/>
                  </a:lnTo>
                  <a:lnTo>
                    <a:pt x="0" y="4051554"/>
                  </a:lnTo>
                  <a:close/>
                </a:path>
              </a:pathLst>
            </a:custGeom>
            <a:solidFill>
              <a:srgbClr val="202228"/>
            </a:solidFill>
            <a:ln w="14288" cap="sq">
              <a:solidFill>
                <a:srgbClr val="FFD229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2379776" y="2856071"/>
            <a:ext cx="2462594" cy="2462594"/>
            <a:chOff x="0" y="0"/>
            <a:chExt cx="3283458" cy="328345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283458" cy="3283458"/>
            </a:xfrm>
            <a:custGeom>
              <a:avLst/>
              <a:gdLst/>
              <a:ahLst/>
              <a:cxnLst/>
              <a:rect r="r" b="b" t="t" l="l"/>
              <a:pathLst>
                <a:path h="3283458" w="3283458">
                  <a:moveTo>
                    <a:pt x="0" y="0"/>
                  </a:moveTo>
                  <a:lnTo>
                    <a:pt x="3283458" y="0"/>
                  </a:lnTo>
                  <a:lnTo>
                    <a:pt x="3283458" y="3283458"/>
                  </a:lnTo>
                  <a:lnTo>
                    <a:pt x="0" y="3283458"/>
                  </a:lnTo>
                  <a:close/>
                </a:path>
              </a:pathLst>
            </a:custGeom>
            <a:solidFill>
              <a:srgbClr val="16181D"/>
            </a:solidFill>
            <a:ln w="14288" cap="sq">
              <a:solidFill>
                <a:srgbClr val="555861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2898241" y="3388938"/>
            <a:ext cx="1425664" cy="1396860"/>
            <a:chOff x="0" y="0"/>
            <a:chExt cx="1900885" cy="18624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900936" cy="1862455"/>
            </a:xfrm>
            <a:custGeom>
              <a:avLst/>
              <a:gdLst/>
              <a:ahLst/>
              <a:cxnLst/>
              <a:rect r="r" b="b" t="t" l="l"/>
              <a:pathLst>
                <a:path h="1862455" w="1900936">
                  <a:moveTo>
                    <a:pt x="0" y="0"/>
                  </a:moveTo>
                  <a:lnTo>
                    <a:pt x="1900936" y="0"/>
                  </a:lnTo>
                  <a:lnTo>
                    <a:pt x="1900936" y="1862455"/>
                  </a:lnTo>
                  <a:lnTo>
                    <a:pt x="0" y="1862455"/>
                  </a:lnTo>
                  <a:close/>
                </a:path>
              </a:pathLst>
            </a:custGeom>
            <a:solidFill>
              <a:srgbClr val="252830"/>
            </a:solidFill>
            <a:ln w="14288" cap="sq">
              <a:solidFill>
                <a:srgbClr val="FFD229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2948590" y="3698519"/>
            <a:ext cx="1324966" cy="403250"/>
            <a:chOff x="0" y="0"/>
            <a:chExt cx="1766621" cy="537667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766620" cy="537668"/>
            </a:xfrm>
            <a:custGeom>
              <a:avLst/>
              <a:gdLst/>
              <a:ahLst/>
              <a:cxnLst/>
              <a:rect r="r" b="b" t="t" l="l"/>
              <a:pathLst>
                <a:path h="537668" w="1766620">
                  <a:moveTo>
                    <a:pt x="0" y="0"/>
                  </a:moveTo>
                  <a:lnTo>
                    <a:pt x="1766620" y="0"/>
                  </a:lnTo>
                  <a:lnTo>
                    <a:pt x="1766620" y="537668"/>
                  </a:lnTo>
                  <a:lnTo>
                    <a:pt x="0" y="537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1766621" cy="556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13"/>
                </a:lnSpc>
              </a:pPr>
              <a:r>
                <a:rPr lang="en-US" sz="2677" b="true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SST-1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991795" y="4159377"/>
            <a:ext cx="1238555" cy="288036"/>
            <a:chOff x="0" y="0"/>
            <a:chExt cx="1651406" cy="38404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651406" cy="384048"/>
            </a:xfrm>
            <a:custGeom>
              <a:avLst/>
              <a:gdLst/>
              <a:ahLst/>
              <a:cxnLst/>
              <a:rect r="r" b="b" t="t" l="l"/>
              <a:pathLst>
                <a:path h="384048" w="1651406">
                  <a:moveTo>
                    <a:pt x="0" y="0"/>
                  </a:moveTo>
                  <a:lnTo>
                    <a:pt x="1651406" y="0"/>
                  </a:lnTo>
                  <a:lnTo>
                    <a:pt x="1651406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1651406" cy="403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07"/>
                </a:lnSpc>
              </a:pPr>
              <a:r>
                <a:rPr lang="en-US" b="true" sz="1339" spc="179">
                  <a:solidFill>
                    <a:srgbClr val="B3B5B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3DFX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767060" y="5952744"/>
            <a:ext cx="2606040" cy="329184"/>
            <a:chOff x="0" y="0"/>
            <a:chExt cx="3474720" cy="43891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474720" cy="438912"/>
            </a:xfrm>
            <a:custGeom>
              <a:avLst/>
              <a:gdLst/>
              <a:ahLst/>
              <a:cxnLst/>
              <a:rect r="r" b="b" t="t" l="l"/>
              <a:pathLst>
                <a:path h="438912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256" r="0" b="-104256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34747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7"/>
                </a:lnSpc>
              </a:pPr>
              <a:r>
                <a:rPr lang="en-US" sz="1514" b="true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50 MHz  /  CORE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784580" y="5952744"/>
            <a:ext cx="2880360" cy="329184"/>
            <a:chOff x="0" y="0"/>
            <a:chExt cx="3840480" cy="43891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840480" cy="438912"/>
            </a:xfrm>
            <a:custGeom>
              <a:avLst/>
              <a:gdLst/>
              <a:ahLst/>
              <a:cxnLst/>
              <a:rect r="r" b="b" t="t" l="l"/>
              <a:pathLst>
                <a:path h="43891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384048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7"/>
                </a:lnSpc>
              </a:pPr>
              <a:r>
                <a:rPr lang="en-US" sz="1514" b="true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50 MHz  /  MEMORY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62704" y="7509224"/>
            <a:ext cx="16089440" cy="1865948"/>
            <a:chOff x="0" y="0"/>
            <a:chExt cx="21452586" cy="248793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1452585" cy="2487930"/>
            </a:xfrm>
            <a:custGeom>
              <a:avLst/>
              <a:gdLst/>
              <a:ahLst/>
              <a:cxnLst/>
              <a:rect r="r" b="b" t="t" l="l"/>
              <a:pathLst>
                <a:path h="2487930" w="21452585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21305138" y="0"/>
                  </a:lnTo>
                  <a:cubicBezTo>
                    <a:pt x="21386546" y="0"/>
                    <a:pt x="21452585" y="66040"/>
                    <a:pt x="21452585" y="147447"/>
                  </a:cubicBezTo>
                  <a:lnTo>
                    <a:pt x="21452585" y="2340483"/>
                  </a:lnTo>
                  <a:cubicBezTo>
                    <a:pt x="21452585" y="2421890"/>
                    <a:pt x="21386546" y="2487930"/>
                    <a:pt x="21305138" y="2487930"/>
                  </a:cubicBezTo>
                  <a:lnTo>
                    <a:pt x="147447" y="2487930"/>
                  </a:lnTo>
                  <a:cubicBezTo>
                    <a:pt x="66040" y="2487930"/>
                    <a:pt x="0" y="2421890"/>
                    <a:pt x="0" y="2340483"/>
                  </a:cubicBezTo>
                  <a:close/>
                </a:path>
              </a:pathLst>
            </a:custGeom>
            <a:solidFill>
              <a:srgbClr val="191B20"/>
            </a:solidFill>
            <a:ln w="14288" cap="sq">
              <a:solidFill>
                <a:srgbClr val="2A2D35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99032" y="7790688"/>
            <a:ext cx="1988820" cy="274320"/>
            <a:chOff x="0" y="0"/>
            <a:chExt cx="2651760" cy="3657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651760" cy="365760"/>
            </a:xfrm>
            <a:custGeom>
              <a:avLst/>
              <a:gdLst/>
              <a:ahLst/>
              <a:cxnLst/>
              <a:rect r="r" b="b" t="t" l="l"/>
              <a:pathLst>
                <a:path h="365760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26517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spc="13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INTEGRANTES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99032" y="8202168"/>
            <a:ext cx="4046220" cy="350197"/>
            <a:chOff x="0" y="0"/>
            <a:chExt cx="5394960" cy="46693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394960" cy="466930"/>
            </a:xfrm>
            <a:custGeom>
              <a:avLst/>
              <a:gdLst/>
              <a:ahLst/>
              <a:cxnLst/>
              <a:rect r="r" b="b" t="t" l="l"/>
              <a:pathLst>
                <a:path h="466930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466930"/>
                  </a:lnTo>
                  <a:lnTo>
                    <a:pt x="0" y="466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132" r="0" b="-17213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5394960" cy="485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4"/>
                </a:lnSpc>
              </a:pPr>
              <a:r>
                <a:rPr lang="en-US" sz="1695">
                  <a:solidFill>
                    <a:srgbClr val="F5F4EF"/>
                  </a:solidFill>
                  <a:latin typeface="Arial"/>
                  <a:ea typeface="Arial"/>
                  <a:cs typeface="Arial"/>
                  <a:sym typeface="Arial"/>
                </a:rPr>
                <a:t>Lucas Alves dos Santos</a:t>
              </a:r>
            </a:p>
          </p:txBody>
        </p:sp>
      </p:grpSp>
      <p:sp>
        <p:nvSpPr>
          <p:cNvPr name="AutoShape 107" id="107"/>
          <p:cNvSpPr/>
          <p:nvPr/>
        </p:nvSpPr>
        <p:spPr>
          <a:xfrm rot="5358540">
            <a:off x="9380934" y="8437436"/>
            <a:ext cx="1263491" cy="0"/>
          </a:xfrm>
          <a:prstGeom prst="line">
            <a:avLst/>
          </a:prstGeom>
          <a:ln cap="rnd" w="9525">
            <a:solidFill>
              <a:srgbClr val="3A3D4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8" id="108"/>
          <p:cNvGrpSpPr/>
          <p:nvPr/>
        </p:nvGrpSpPr>
        <p:grpSpPr>
          <a:xfrm rot="0">
            <a:off x="10451592" y="7790688"/>
            <a:ext cx="1783080" cy="274320"/>
            <a:chOff x="0" y="0"/>
            <a:chExt cx="2377440" cy="36576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377440" cy="365760"/>
            </a:xfrm>
            <a:custGeom>
              <a:avLst/>
              <a:gdLst/>
              <a:ahLst/>
              <a:cxnLst/>
              <a:rect r="r" b="b" t="t" l="l"/>
              <a:pathLst>
                <a:path h="36576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237744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spc="13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DISCIPLINA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0451592" y="8215884"/>
            <a:ext cx="3497580" cy="564333"/>
            <a:chOff x="0" y="0"/>
            <a:chExt cx="4663440" cy="75244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663440" cy="752444"/>
            </a:xfrm>
            <a:custGeom>
              <a:avLst/>
              <a:gdLst/>
              <a:ahLst/>
              <a:cxnLst/>
              <a:rect r="r" b="b" t="t" l="l"/>
              <a:pathLst>
                <a:path h="752444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752444"/>
                  </a:lnTo>
                  <a:lnTo>
                    <a:pt x="0" y="7524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381" r="0" b="-51143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4663440" cy="7714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5"/>
                </a:lnSpc>
              </a:pPr>
              <a:r>
                <a:rPr lang="en-US" sz="1604">
                  <a:solidFill>
                    <a:srgbClr val="F5F4EF"/>
                  </a:solidFill>
                  <a:latin typeface="Arial"/>
                  <a:ea typeface="Arial"/>
                  <a:cs typeface="Arial"/>
                  <a:sym typeface="Arial"/>
                </a:rPr>
                <a:t>Pr</a:t>
              </a:r>
              <a:r>
                <a:rPr lang="en-US" sz="1604">
                  <a:solidFill>
                    <a:srgbClr val="F5F4EF"/>
                  </a:solidFill>
                  <a:latin typeface="Arial"/>
                  <a:ea typeface="Arial"/>
                  <a:cs typeface="Arial"/>
                  <a:sym typeface="Arial"/>
                </a:rPr>
                <a:t>ojeto em Engenharia da Computação I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3949172" y="7790688"/>
            <a:ext cx="2674620" cy="274320"/>
            <a:chOff x="0" y="0"/>
            <a:chExt cx="3566160" cy="3657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566160" cy="365760"/>
            </a:xfrm>
            <a:custGeom>
              <a:avLst/>
              <a:gdLst/>
              <a:ahLst/>
              <a:cxnLst/>
              <a:rect r="r" b="b" t="t" l="l"/>
              <a:pathLst>
                <a:path h="36576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35661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spc="13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CURSO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3949172" y="8215884"/>
            <a:ext cx="2715768" cy="342900"/>
            <a:chOff x="0" y="0"/>
            <a:chExt cx="3621024" cy="4572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621024" cy="457200"/>
            </a:xfrm>
            <a:custGeom>
              <a:avLst/>
              <a:gdLst/>
              <a:ahLst/>
              <a:cxnLst/>
              <a:rect r="r" b="b" t="t" l="l"/>
              <a:pathLst>
                <a:path h="457200" w="3621024">
                  <a:moveTo>
                    <a:pt x="0" y="0"/>
                  </a:moveTo>
                  <a:lnTo>
                    <a:pt x="3621024" y="0"/>
                  </a:lnTo>
                  <a:lnTo>
                    <a:pt x="36210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321" r="0" b="-104321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3621024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5"/>
                </a:lnSpc>
              </a:pPr>
              <a:r>
                <a:rPr lang="en-US" sz="1604">
                  <a:solidFill>
                    <a:srgbClr val="F5F4EF"/>
                  </a:solidFill>
                  <a:latin typeface="Arial"/>
                  <a:ea typeface="Arial"/>
                  <a:cs typeface="Arial"/>
                  <a:sym typeface="Arial"/>
                </a:rPr>
                <a:t>Engenharia da Computação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97280" y="9765792"/>
            <a:ext cx="6035040" cy="219456"/>
            <a:chOff x="0" y="0"/>
            <a:chExt cx="8046720" cy="29260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046720" cy="292608"/>
            </a:xfrm>
            <a:custGeom>
              <a:avLst/>
              <a:gdLst/>
              <a:ahLst/>
              <a:cxnLst/>
              <a:rect r="r" b="b" t="t" l="l"/>
              <a:pathLst>
                <a:path h="292608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9525"/>
              <a:ext cx="804672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89">
                  <a:solidFill>
                    <a:srgbClr val="777B8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APRESENTAÇÃO TÉCNICA  •  2026</a:t>
              </a:r>
            </a:p>
          </p:txBody>
        </p:sp>
      </p:grpSp>
      <p:sp>
        <p:nvSpPr>
          <p:cNvPr name="TextBox 123" id="123"/>
          <p:cNvSpPr txBox="true"/>
          <p:nvPr/>
        </p:nvSpPr>
        <p:spPr>
          <a:xfrm rot="0">
            <a:off x="17030700" y="9833610"/>
            <a:ext cx="1017118" cy="37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1758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56210" cy="10306050"/>
            <a:chOff x="0" y="0"/>
            <a:chExt cx="20828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8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08280">
                  <a:moveTo>
                    <a:pt x="0" y="0"/>
                  </a:moveTo>
                  <a:lnTo>
                    <a:pt x="208280" y="0"/>
                  </a:lnTo>
                  <a:lnTo>
                    <a:pt x="208280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FD229"/>
            </a:solidFill>
          </p:spPr>
        </p:sp>
      </p:grpSp>
      <p:sp>
        <p:nvSpPr>
          <p:cNvPr name="AutoShape 4" id="4"/>
          <p:cNvSpPr/>
          <p:nvPr/>
        </p:nvSpPr>
        <p:spPr>
          <a:xfrm rot="1980">
            <a:off x="886777" y="475297"/>
            <a:ext cx="16468725" cy="0"/>
          </a:xfrm>
          <a:prstGeom prst="line">
            <a:avLst/>
          </a:prstGeom>
          <a:ln cap="rnd" w="9525">
            <a:solidFill>
              <a:srgbClr val="24262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69848" y="713232"/>
            <a:ext cx="6035040" cy="329184"/>
            <a:chOff x="0" y="0"/>
            <a:chExt cx="8046720" cy="4389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46720" cy="438912"/>
            </a:xfrm>
            <a:custGeom>
              <a:avLst/>
              <a:gdLst/>
              <a:ahLst/>
              <a:cxnLst/>
              <a:rect r="r" b="b" t="t" l="l"/>
              <a:pathLst>
                <a:path h="43891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0467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6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  /  INTRODUÇÃO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9848" y="1138428"/>
            <a:ext cx="16184880" cy="754380"/>
            <a:chOff x="0" y="0"/>
            <a:chExt cx="21579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042" r="0" b="-36804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579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Explorar o limite entre desempenho e estabilidade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97280" y="2143887"/>
            <a:ext cx="16075152" cy="110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A 3dfx Voodoo Graphics, lançada em 1996, foi uma placa marcante na aceleração gráfica 3D em PCs. O projeto usa clocks de referência de 50 MHz para núcleo e memória EDO DRAM como ponto de partida para investigar, por simulação, o efeito do overclock.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0136" y="3449288"/>
            <a:ext cx="16062007" cy="796100"/>
            <a:chOff x="0" y="0"/>
            <a:chExt cx="21416010" cy="10614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16009" cy="1061466"/>
            </a:xfrm>
            <a:custGeom>
              <a:avLst/>
              <a:gdLst/>
              <a:ahLst/>
              <a:cxnLst/>
              <a:rect r="r" b="b" t="t" l="l"/>
              <a:pathLst>
                <a:path h="1061466" w="21416009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21267038" y="0"/>
                  </a:lnTo>
                  <a:cubicBezTo>
                    <a:pt x="21349334" y="0"/>
                    <a:pt x="21416009" y="66675"/>
                    <a:pt x="21416009" y="148971"/>
                  </a:cubicBezTo>
                  <a:lnTo>
                    <a:pt x="21416009" y="912495"/>
                  </a:lnTo>
                  <a:cubicBezTo>
                    <a:pt x="21416009" y="994791"/>
                    <a:pt x="21349334" y="1061466"/>
                    <a:pt x="21267038" y="1061466"/>
                  </a:cubicBezTo>
                  <a:lnTo>
                    <a:pt x="148971" y="1061466"/>
                  </a:lnTo>
                  <a:cubicBezTo>
                    <a:pt x="66675" y="1061466"/>
                    <a:pt x="0" y="994791"/>
                    <a:pt x="0" y="912495"/>
                  </a:cubicBezTo>
                  <a:close/>
                </a:path>
              </a:pathLst>
            </a:custGeom>
            <a:solidFill>
              <a:srgbClr val="24232A"/>
            </a:solidFill>
            <a:ln w="14288" cap="sq">
              <a:solidFill>
                <a:srgbClr val="38343A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90136" y="3449288"/>
            <a:ext cx="124016" cy="796100"/>
            <a:chOff x="0" y="0"/>
            <a:chExt cx="165354" cy="10614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5354" cy="1061466"/>
            </a:xfrm>
            <a:custGeom>
              <a:avLst/>
              <a:gdLst/>
              <a:ahLst/>
              <a:cxnLst/>
              <a:rect r="r" b="b" t="t" l="l"/>
              <a:pathLst>
                <a:path h="1061466" w="165354">
                  <a:moveTo>
                    <a:pt x="0" y="0"/>
                  </a:moveTo>
                  <a:lnTo>
                    <a:pt x="165354" y="0"/>
                  </a:lnTo>
                  <a:lnTo>
                    <a:pt x="165354" y="1061466"/>
                  </a:lnTo>
                  <a:lnTo>
                    <a:pt x="0" y="1061466"/>
                  </a:lnTo>
                  <a:close/>
                </a:path>
              </a:pathLst>
            </a:custGeom>
            <a:solidFill>
              <a:srgbClr val="FFD22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12748" y="3634740"/>
            <a:ext cx="1618488" cy="246888"/>
            <a:chOff x="0" y="0"/>
            <a:chExt cx="2157984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7984" cy="329184"/>
            </a:xfrm>
            <a:custGeom>
              <a:avLst/>
              <a:gdLst/>
              <a:ahLst/>
              <a:cxnLst/>
              <a:rect r="r" b="b" t="t" l="l"/>
              <a:pathLst>
                <a:path h="329184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157984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spc="10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PROPOSTA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154680" y="3607308"/>
            <a:ext cx="13441680" cy="301752"/>
            <a:chOff x="0" y="0"/>
            <a:chExt cx="17922240" cy="4023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922239" cy="402336"/>
            </a:xfrm>
            <a:custGeom>
              <a:avLst/>
              <a:gdLst/>
              <a:ahLst/>
              <a:cxnLst/>
              <a:rect r="r" b="b" t="t" l="l"/>
              <a:pathLst>
                <a:path h="402336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7969" r="0" b="-81796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792224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Simular o comportamento do sistema — não medir nem controlar uma GPU física.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0136" y="4683728"/>
            <a:ext cx="5171504" cy="3745040"/>
            <a:chOff x="0" y="0"/>
            <a:chExt cx="6895338" cy="49933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95338" cy="4993386"/>
            </a:xfrm>
            <a:custGeom>
              <a:avLst/>
              <a:gdLst/>
              <a:ahLst/>
              <a:cxnLst/>
              <a:rect r="r" b="b" t="t" l="l"/>
              <a:pathLst>
                <a:path h="4993386" w="6895338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48526" y="0"/>
                  </a:lnTo>
                  <a:cubicBezTo>
                    <a:pt x="6829679" y="0"/>
                    <a:pt x="6895338" y="65786"/>
                    <a:pt x="6895338" y="146812"/>
                  </a:cubicBezTo>
                  <a:lnTo>
                    <a:pt x="6895338" y="4846574"/>
                  </a:lnTo>
                  <a:cubicBezTo>
                    <a:pt x="6895338" y="4927727"/>
                    <a:pt x="6829552" y="4993386"/>
                    <a:pt x="6748526" y="4993386"/>
                  </a:cubicBezTo>
                  <a:lnTo>
                    <a:pt x="146812" y="4993386"/>
                  </a:lnTo>
                  <a:cubicBezTo>
                    <a:pt x="65786" y="4993386"/>
                    <a:pt x="0" y="4927600"/>
                    <a:pt x="0" y="4846574"/>
                  </a:cubicBezTo>
                  <a:close/>
                </a:path>
              </a:pathLst>
            </a:custGeom>
            <a:solidFill>
              <a:srgbClr val="191B20"/>
            </a:solidFill>
            <a:ln w="14288" cap="sq">
              <a:solidFill>
                <a:srgbClr val="2B2E3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99032" y="4965192"/>
            <a:ext cx="617220" cy="576072"/>
            <a:chOff x="0" y="0"/>
            <a:chExt cx="822960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960" cy="768096"/>
            </a:xfrm>
            <a:custGeom>
              <a:avLst/>
              <a:gdLst/>
              <a:ahLst/>
              <a:cxnLst/>
              <a:rect r="r" b="b" t="t" l="l"/>
              <a:pathLst>
                <a:path h="768096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8229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208276" y="5061204"/>
            <a:ext cx="3566160" cy="246888"/>
            <a:chOff x="0" y="0"/>
            <a:chExt cx="4754880" cy="3291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54880" cy="329184"/>
            </a:xfrm>
            <a:custGeom>
              <a:avLst/>
              <a:gdLst/>
              <a:ahLst/>
              <a:cxnLst/>
              <a:rect r="r" b="b" t="t" l="l"/>
              <a:pathLst>
                <a:path h="32918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75488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b="true" sz="1260" spc="157">
                  <a:solidFill>
                    <a:srgbClr val="777B8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REFERÊNCIA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99032" y="5747004"/>
            <a:ext cx="4526280" cy="480060"/>
            <a:chOff x="0" y="0"/>
            <a:chExt cx="603504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35040" cy="640080"/>
            </a:xfrm>
            <a:custGeom>
              <a:avLst/>
              <a:gdLst/>
              <a:ahLst/>
              <a:cxnLst/>
              <a:rect r="r" b="b" t="t" l="l"/>
              <a:pathLst>
                <a:path h="6400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603504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Hardware histórico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162360">
            <a:off x="1379534" y="6354699"/>
            <a:ext cx="807091" cy="0"/>
          </a:xfrm>
          <a:prstGeom prst="line">
            <a:avLst/>
          </a:prstGeom>
          <a:ln cap="rnd" w="19050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399032" y="6582537"/>
            <a:ext cx="4526280" cy="150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754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3dfx Voodoo Graphics (1996)</a:t>
            </a:r>
          </a:p>
          <a:p>
            <a:pPr algn="l">
              <a:lnSpc>
                <a:spcPts val="2105"/>
              </a:lnSpc>
            </a:pPr>
          </a:p>
          <a:p>
            <a:pPr algn="l">
              <a:lnSpc>
                <a:spcPts val="2105"/>
              </a:lnSpc>
            </a:pPr>
            <a:r>
              <a:rPr lang="en-US" sz="1754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Core clock: 50 MHz</a:t>
            </a:r>
          </a:p>
          <a:p>
            <a:pPr algn="l">
              <a:lnSpc>
                <a:spcPts val="2105"/>
              </a:lnSpc>
            </a:pPr>
            <a:r>
              <a:rPr lang="en-US" sz="1754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Memory clock: 50 MHz</a:t>
            </a:r>
          </a:p>
          <a:p>
            <a:pPr algn="l">
              <a:lnSpc>
                <a:spcPts val="2105"/>
              </a:lnSpc>
            </a:pPr>
            <a:r>
              <a:rPr lang="en-US" sz="1754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Memória: EDO DRAM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549104" y="4683728"/>
            <a:ext cx="5171504" cy="3745040"/>
            <a:chOff x="0" y="0"/>
            <a:chExt cx="6895338" cy="49933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95338" cy="4993386"/>
            </a:xfrm>
            <a:custGeom>
              <a:avLst/>
              <a:gdLst/>
              <a:ahLst/>
              <a:cxnLst/>
              <a:rect r="r" b="b" t="t" l="l"/>
              <a:pathLst>
                <a:path h="4993386" w="6895338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48526" y="0"/>
                  </a:lnTo>
                  <a:cubicBezTo>
                    <a:pt x="6829679" y="0"/>
                    <a:pt x="6895338" y="65786"/>
                    <a:pt x="6895338" y="146812"/>
                  </a:cubicBezTo>
                  <a:lnTo>
                    <a:pt x="6895338" y="4846574"/>
                  </a:lnTo>
                  <a:cubicBezTo>
                    <a:pt x="6895338" y="4927727"/>
                    <a:pt x="6829552" y="4993386"/>
                    <a:pt x="6748526" y="4993386"/>
                  </a:cubicBezTo>
                  <a:lnTo>
                    <a:pt x="146812" y="4993386"/>
                  </a:lnTo>
                  <a:cubicBezTo>
                    <a:pt x="65786" y="4993386"/>
                    <a:pt x="0" y="4927600"/>
                    <a:pt x="0" y="4846574"/>
                  </a:cubicBezTo>
                  <a:close/>
                </a:path>
              </a:pathLst>
            </a:custGeom>
            <a:solidFill>
              <a:srgbClr val="191B20"/>
            </a:solidFill>
            <a:ln w="14288" cap="sq">
              <a:solidFill>
                <a:srgbClr val="2B2E3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858000" y="4965192"/>
            <a:ext cx="617220" cy="576072"/>
            <a:chOff x="0" y="0"/>
            <a:chExt cx="822960" cy="7680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22960" cy="768096"/>
            </a:xfrm>
            <a:custGeom>
              <a:avLst/>
              <a:gdLst/>
              <a:ahLst/>
              <a:cxnLst/>
              <a:rect r="r" b="b" t="t" l="l"/>
              <a:pathLst>
                <a:path h="768096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8229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667244" y="5061204"/>
            <a:ext cx="3566160" cy="246888"/>
            <a:chOff x="0" y="0"/>
            <a:chExt cx="4754880" cy="3291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54880" cy="329184"/>
            </a:xfrm>
            <a:custGeom>
              <a:avLst/>
              <a:gdLst/>
              <a:ahLst/>
              <a:cxnLst/>
              <a:rect r="r" b="b" t="t" l="l"/>
              <a:pathLst>
                <a:path h="32918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75488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b="true" sz="1260" spc="157">
                  <a:solidFill>
                    <a:srgbClr val="777B8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DESAFIO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858000" y="5747004"/>
            <a:ext cx="4526280" cy="480060"/>
            <a:chOff x="0" y="0"/>
            <a:chExt cx="603504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035040" cy="640080"/>
            </a:xfrm>
            <a:custGeom>
              <a:avLst/>
              <a:gdLst/>
              <a:ahLst/>
              <a:cxnLst/>
              <a:rect r="r" b="b" t="t" l="l"/>
              <a:pathLst>
                <a:path h="6400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603504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efeito do overclock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162360">
            <a:off x="6838502" y="6354699"/>
            <a:ext cx="807091" cy="0"/>
          </a:xfrm>
          <a:prstGeom prst="line">
            <a:avLst/>
          </a:prstGeom>
          <a:ln cap="rnd" w="19050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6858000" y="6582537"/>
            <a:ext cx="4526280" cy="150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754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Elevar os clocks pode melhorar o desempenho estimado, mas também aumenta a potência modelada, a temperatura e o risco de instabilidade.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008072" y="4683728"/>
            <a:ext cx="5171504" cy="3745040"/>
            <a:chOff x="0" y="0"/>
            <a:chExt cx="6895338" cy="499338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95338" cy="4993386"/>
            </a:xfrm>
            <a:custGeom>
              <a:avLst/>
              <a:gdLst/>
              <a:ahLst/>
              <a:cxnLst/>
              <a:rect r="r" b="b" t="t" l="l"/>
              <a:pathLst>
                <a:path h="4993386" w="6895338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748526" y="0"/>
                  </a:lnTo>
                  <a:cubicBezTo>
                    <a:pt x="6829679" y="0"/>
                    <a:pt x="6895338" y="65786"/>
                    <a:pt x="6895338" y="146812"/>
                  </a:cubicBezTo>
                  <a:lnTo>
                    <a:pt x="6895338" y="4846574"/>
                  </a:lnTo>
                  <a:cubicBezTo>
                    <a:pt x="6895338" y="4927727"/>
                    <a:pt x="6829552" y="4993386"/>
                    <a:pt x="6748526" y="4993386"/>
                  </a:cubicBezTo>
                  <a:lnTo>
                    <a:pt x="146812" y="4993386"/>
                  </a:lnTo>
                  <a:cubicBezTo>
                    <a:pt x="65786" y="4993386"/>
                    <a:pt x="0" y="4927600"/>
                    <a:pt x="0" y="4846574"/>
                  </a:cubicBezTo>
                  <a:close/>
                </a:path>
              </a:pathLst>
            </a:custGeom>
            <a:solidFill>
              <a:srgbClr val="191B20"/>
            </a:solidFill>
            <a:ln w="14288" cap="sq">
              <a:solidFill>
                <a:srgbClr val="2B2E36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316968" y="4965192"/>
            <a:ext cx="617220" cy="576072"/>
            <a:chOff x="0" y="0"/>
            <a:chExt cx="822960" cy="7680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22960" cy="768096"/>
            </a:xfrm>
            <a:custGeom>
              <a:avLst/>
              <a:gdLst/>
              <a:ahLst/>
              <a:cxnLst/>
              <a:rect r="r" b="b" t="t" l="l"/>
              <a:pathLst>
                <a:path h="768096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9749" t="0" r="-6974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82296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126212" y="5061204"/>
            <a:ext cx="3566160" cy="246888"/>
            <a:chOff x="0" y="0"/>
            <a:chExt cx="4754880" cy="3291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754880" cy="329184"/>
            </a:xfrm>
            <a:custGeom>
              <a:avLst/>
              <a:gdLst/>
              <a:ahLst/>
              <a:cxnLst/>
              <a:rect r="r" b="b" t="t" l="l"/>
              <a:pathLst>
                <a:path h="32918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475488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12"/>
                </a:lnSpc>
              </a:pPr>
              <a:r>
                <a:rPr lang="en-US" b="true" sz="1260" spc="157">
                  <a:solidFill>
                    <a:srgbClr val="777B8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316968" y="5747004"/>
            <a:ext cx="4526280" cy="480060"/>
            <a:chOff x="0" y="0"/>
            <a:chExt cx="6035040" cy="640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035040" cy="640080"/>
            </a:xfrm>
            <a:custGeom>
              <a:avLst/>
              <a:gdLst/>
              <a:ahLst/>
              <a:cxnLst/>
              <a:rect r="r" b="b" t="t" l="l"/>
              <a:pathLst>
                <a:path h="6400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603504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Comparar cenários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rot="162360">
            <a:off x="12297470" y="6354699"/>
            <a:ext cx="807091" cy="0"/>
          </a:xfrm>
          <a:prstGeom prst="line">
            <a:avLst/>
          </a:prstGeom>
          <a:ln cap="rnd" w="19050">
            <a:solidFill>
              <a:srgbClr val="FFD2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12316968" y="6582537"/>
            <a:ext cx="4526280" cy="150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5"/>
              </a:lnSpc>
            </a:pPr>
            <a:r>
              <a:rPr lang="en-US" sz="1754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Permitir ajustes de clocks, tensão e refrigeração para observar FPS estimado, curva térmica, consumo e probabilidade heurística de falha.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3504152" y="8798528"/>
            <a:ext cx="1934527" cy="439484"/>
            <a:chOff x="0" y="0"/>
            <a:chExt cx="2579370" cy="58597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579370" cy="585978"/>
            </a:xfrm>
            <a:custGeom>
              <a:avLst/>
              <a:gdLst/>
              <a:ahLst/>
              <a:cxnLst/>
              <a:rect r="r" b="b" t="t" l="l"/>
              <a:pathLst>
                <a:path h="585978" w="2579370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2428113" y="0"/>
                  </a:lnTo>
                  <a:cubicBezTo>
                    <a:pt x="2511679" y="0"/>
                    <a:pt x="2579370" y="67691"/>
                    <a:pt x="2579370" y="151257"/>
                  </a:cubicBezTo>
                  <a:lnTo>
                    <a:pt x="2579370" y="434721"/>
                  </a:lnTo>
                  <a:cubicBezTo>
                    <a:pt x="2579370" y="518287"/>
                    <a:pt x="2511679" y="585978"/>
                    <a:pt x="2428113" y="585978"/>
                  </a:cubicBezTo>
                  <a:lnTo>
                    <a:pt x="151257" y="585978"/>
                  </a:lnTo>
                  <a:cubicBezTo>
                    <a:pt x="67691" y="585978"/>
                    <a:pt x="0" y="518287"/>
                    <a:pt x="0" y="434721"/>
                  </a:cubicBezTo>
                  <a:close/>
                </a:path>
              </a:pathLst>
            </a:custGeom>
            <a:solidFill>
              <a:srgbClr val="202228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3675888" y="8819388"/>
            <a:ext cx="1591056" cy="384048"/>
            <a:chOff x="0" y="0"/>
            <a:chExt cx="2121408" cy="5120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21408" cy="512064"/>
            </a:xfrm>
            <a:custGeom>
              <a:avLst/>
              <a:gdLst/>
              <a:ahLst/>
              <a:cxnLst/>
              <a:rect r="r" b="b" t="t" l="l"/>
              <a:pathLst>
                <a:path h="512064" w="2121408">
                  <a:moveTo>
                    <a:pt x="0" y="0"/>
                  </a:moveTo>
                  <a:lnTo>
                    <a:pt x="2121408" y="0"/>
                  </a:lnTo>
                  <a:lnTo>
                    <a:pt x="212140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3" r="0" b="-3072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212140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74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CONFIGURAR</a:t>
              </a:r>
            </a:p>
          </p:txBody>
        </p:sp>
      </p:grpSp>
      <p:sp>
        <p:nvSpPr>
          <p:cNvPr name="AutoShape 66" id="66"/>
          <p:cNvSpPr/>
          <p:nvPr/>
        </p:nvSpPr>
        <p:spPr>
          <a:xfrm rot="48840">
            <a:off x="5640438" y="9006650"/>
            <a:ext cx="1475003" cy="0"/>
          </a:xfrm>
          <a:prstGeom prst="line">
            <a:avLst/>
          </a:prstGeom>
          <a:ln cap="rnd" w="9525">
            <a:solidFill>
              <a:srgbClr val="777B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7017830" y="8924354"/>
            <a:ext cx="174117" cy="174117"/>
            <a:chOff x="0" y="0"/>
            <a:chExt cx="232156" cy="23215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FFD229"/>
            </a:solidFill>
            <a:ln w="9525" cap="sq">
              <a:solidFill>
                <a:srgbClr val="FFD229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7454360" y="8798528"/>
            <a:ext cx="1797367" cy="439484"/>
            <a:chOff x="0" y="0"/>
            <a:chExt cx="2396490" cy="58597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396490" cy="585978"/>
            </a:xfrm>
            <a:custGeom>
              <a:avLst/>
              <a:gdLst/>
              <a:ahLst/>
              <a:cxnLst/>
              <a:rect r="r" b="b" t="t" l="l"/>
              <a:pathLst>
                <a:path h="585978" w="2396490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2245233" y="0"/>
                  </a:lnTo>
                  <a:cubicBezTo>
                    <a:pt x="2328799" y="0"/>
                    <a:pt x="2396490" y="67691"/>
                    <a:pt x="2396490" y="151257"/>
                  </a:cubicBezTo>
                  <a:lnTo>
                    <a:pt x="2396490" y="434721"/>
                  </a:lnTo>
                  <a:cubicBezTo>
                    <a:pt x="2396490" y="518287"/>
                    <a:pt x="2328799" y="585978"/>
                    <a:pt x="2245233" y="585978"/>
                  </a:cubicBezTo>
                  <a:lnTo>
                    <a:pt x="151257" y="585978"/>
                  </a:lnTo>
                  <a:cubicBezTo>
                    <a:pt x="67691" y="585978"/>
                    <a:pt x="0" y="518287"/>
                    <a:pt x="0" y="434721"/>
                  </a:cubicBezTo>
                  <a:close/>
                </a:path>
              </a:pathLst>
            </a:custGeom>
            <a:solidFill>
              <a:srgbClr val="202228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626096" y="8819388"/>
            <a:ext cx="1453896" cy="384048"/>
            <a:chOff x="0" y="0"/>
            <a:chExt cx="1938528" cy="51206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938528" cy="512064"/>
            </a:xfrm>
            <a:custGeom>
              <a:avLst/>
              <a:gdLst/>
              <a:ahLst/>
              <a:cxnLst/>
              <a:rect r="r" b="b" t="t" l="l"/>
              <a:pathLst>
                <a:path h="512064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64" r="0" b="-2376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193852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74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SIMULAR</a:t>
              </a:r>
            </a:p>
          </p:txBody>
        </p:sp>
      </p:grpSp>
      <p:sp>
        <p:nvSpPr>
          <p:cNvPr name="AutoShape 74" id="74"/>
          <p:cNvSpPr/>
          <p:nvPr/>
        </p:nvSpPr>
        <p:spPr>
          <a:xfrm rot="48840">
            <a:off x="9453486" y="9006650"/>
            <a:ext cx="1475003" cy="0"/>
          </a:xfrm>
          <a:prstGeom prst="line">
            <a:avLst/>
          </a:prstGeom>
          <a:ln cap="rnd" w="9525">
            <a:solidFill>
              <a:srgbClr val="777B8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5" id="75"/>
          <p:cNvGrpSpPr/>
          <p:nvPr/>
        </p:nvGrpSpPr>
        <p:grpSpPr>
          <a:xfrm rot="0">
            <a:off x="10830878" y="8924354"/>
            <a:ext cx="174117" cy="174117"/>
            <a:chOff x="0" y="0"/>
            <a:chExt cx="232156" cy="23215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32156" cy="232156"/>
            </a:xfrm>
            <a:custGeom>
              <a:avLst/>
              <a:gdLst/>
              <a:ahLst/>
              <a:cxnLst/>
              <a:rect r="r" b="b" t="t" l="l"/>
              <a:pathLst>
                <a:path h="232156" w="232156">
                  <a:moveTo>
                    <a:pt x="0" y="116078"/>
                  </a:moveTo>
                  <a:cubicBezTo>
                    <a:pt x="0" y="51943"/>
                    <a:pt x="51943" y="0"/>
                    <a:pt x="116078" y="0"/>
                  </a:cubicBezTo>
                  <a:cubicBezTo>
                    <a:pt x="180213" y="0"/>
                    <a:pt x="232156" y="51943"/>
                    <a:pt x="232156" y="116078"/>
                  </a:cubicBezTo>
                  <a:cubicBezTo>
                    <a:pt x="232156" y="180213"/>
                    <a:pt x="180213" y="232156"/>
                    <a:pt x="116078" y="232156"/>
                  </a:cubicBezTo>
                  <a:cubicBezTo>
                    <a:pt x="51943" y="232156"/>
                    <a:pt x="0" y="180213"/>
                    <a:pt x="0" y="116078"/>
                  </a:cubicBezTo>
                  <a:close/>
                </a:path>
              </a:pathLst>
            </a:custGeom>
            <a:solidFill>
              <a:srgbClr val="FFD229"/>
            </a:solidFill>
            <a:ln w="9525" cap="sq">
              <a:solidFill>
                <a:srgbClr val="FFD229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1267408" y="8798528"/>
            <a:ext cx="2003108" cy="439484"/>
            <a:chOff x="0" y="0"/>
            <a:chExt cx="2670810" cy="58597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670810" cy="585978"/>
            </a:xfrm>
            <a:custGeom>
              <a:avLst/>
              <a:gdLst/>
              <a:ahLst/>
              <a:cxnLst/>
              <a:rect r="r" b="b" t="t" l="l"/>
              <a:pathLst>
                <a:path h="585978" w="2670810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2519553" y="0"/>
                  </a:lnTo>
                  <a:cubicBezTo>
                    <a:pt x="2603119" y="0"/>
                    <a:pt x="2670810" y="67691"/>
                    <a:pt x="2670810" y="151257"/>
                  </a:cubicBezTo>
                  <a:lnTo>
                    <a:pt x="2670810" y="434721"/>
                  </a:lnTo>
                  <a:cubicBezTo>
                    <a:pt x="2670810" y="518287"/>
                    <a:pt x="2603119" y="585978"/>
                    <a:pt x="2519553" y="585978"/>
                  </a:cubicBezTo>
                  <a:lnTo>
                    <a:pt x="151257" y="585978"/>
                  </a:lnTo>
                  <a:cubicBezTo>
                    <a:pt x="67691" y="585978"/>
                    <a:pt x="0" y="518287"/>
                    <a:pt x="0" y="434721"/>
                  </a:cubicBezTo>
                  <a:close/>
                </a:path>
              </a:pathLst>
            </a:custGeom>
            <a:solidFill>
              <a:srgbClr val="202228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439144" y="8819388"/>
            <a:ext cx="1659636" cy="384048"/>
            <a:chOff x="0" y="0"/>
            <a:chExt cx="2212848" cy="51206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12848" cy="512064"/>
            </a:xfrm>
            <a:custGeom>
              <a:avLst/>
              <a:gdLst/>
              <a:ahLst/>
              <a:cxnLst/>
              <a:rect r="r" b="b" t="t" l="l"/>
              <a:pathLst>
                <a:path h="512064" w="2212848">
                  <a:moveTo>
                    <a:pt x="0" y="0"/>
                  </a:moveTo>
                  <a:lnTo>
                    <a:pt x="2212848" y="0"/>
                  </a:lnTo>
                  <a:lnTo>
                    <a:pt x="2212848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03" r="0" b="-3420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2212848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74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COMPARAR</a:t>
              </a:r>
            </a:p>
          </p:txBody>
        </p:sp>
      </p:grpSp>
      <p:sp>
        <p:nvSpPr>
          <p:cNvPr name="AutoShape 82" id="82"/>
          <p:cNvSpPr/>
          <p:nvPr/>
        </p:nvSpPr>
        <p:spPr>
          <a:xfrm rot="2460">
            <a:off x="1064133" y="9623870"/>
            <a:ext cx="16155162" cy="0"/>
          </a:xfrm>
          <a:prstGeom prst="line">
            <a:avLst/>
          </a:prstGeom>
          <a:ln cap="rnd" w="9525">
            <a:solidFill>
              <a:srgbClr val="2A2C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3" id="83"/>
          <p:cNvGrpSpPr/>
          <p:nvPr/>
        </p:nvGrpSpPr>
        <p:grpSpPr>
          <a:xfrm rot="0">
            <a:off x="1097280" y="9765792"/>
            <a:ext cx="11932920" cy="219456"/>
            <a:chOff x="0" y="0"/>
            <a:chExt cx="15910560" cy="29260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910561" cy="292608"/>
            </a:xfrm>
            <a:custGeom>
              <a:avLst/>
              <a:gdLst/>
              <a:ahLst/>
              <a:cxnLst/>
              <a:rect r="r" b="b" t="t" l="l"/>
              <a:pathLst>
                <a:path h="292608" w="15910561">
                  <a:moveTo>
                    <a:pt x="0" y="0"/>
                  </a:moveTo>
                  <a:lnTo>
                    <a:pt x="15910561" y="0"/>
                  </a:lnTo>
                  <a:lnTo>
                    <a:pt x="15910561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9498" r="0" b="-100949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1591056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89">
                  <a:solidFill>
                    <a:srgbClr val="777B8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SST-1 OC LAB  •  SIMULAÇÃO COMPUTACIONAL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7030700" y="9833610"/>
            <a:ext cx="1017118" cy="37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1758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56210" cy="10306050"/>
            <a:chOff x="0" y="0"/>
            <a:chExt cx="20828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8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08280">
                  <a:moveTo>
                    <a:pt x="0" y="0"/>
                  </a:moveTo>
                  <a:lnTo>
                    <a:pt x="208280" y="0"/>
                  </a:lnTo>
                  <a:lnTo>
                    <a:pt x="208280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FD229"/>
            </a:solidFill>
          </p:spPr>
        </p:sp>
      </p:grpSp>
      <p:sp>
        <p:nvSpPr>
          <p:cNvPr name="AutoShape 4" id="4"/>
          <p:cNvSpPr/>
          <p:nvPr/>
        </p:nvSpPr>
        <p:spPr>
          <a:xfrm rot="1980">
            <a:off x="886777" y="475297"/>
            <a:ext cx="16468725" cy="0"/>
          </a:xfrm>
          <a:prstGeom prst="line">
            <a:avLst/>
          </a:prstGeom>
          <a:ln cap="rnd" w="9525">
            <a:solidFill>
              <a:srgbClr val="24262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69848" y="713232"/>
            <a:ext cx="6035040" cy="329184"/>
            <a:chOff x="0" y="0"/>
            <a:chExt cx="8046720" cy="4389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46720" cy="438912"/>
            </a:xfrm>
            <a:custGeom>
              <a:avLst/>
              <a:gdLst/>
              <a:ahLst/>
              <a:cxnLst/>
              <a:rect r="r" b="b" t="t" l="l"/>
              <a:pathLst>
                <a:path h="43891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0467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6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  /  METODOLOGIA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9848" y="1138428"/>
            <a:ext cx="16184880" cy="754380"/>
            <a:chOff x="0" y="0"/>
            <a:chExt cx="21579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042" r="0" b="-36804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579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 parâmetro ao resultado, em três camadas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1961388"/>
            <a:ext cx="16184880" cy="521208"/>
            <a:chOff x="0" y="0"/>
            <a:chExt cx="21579840" cy="6949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79839" cy="694944"/>
            </a:xfrm>
            <a:custGeom>
              <a:avLst/>
              <a:gdLst/>
              <a:ahLst/>
              <a:cxnLst/>
              <a:rect r="r" b="b" t="t" l="l"/>
              <a:pathLst>
                <a:path h="694944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061" r="0" b="-55506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1579840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4"/>
                </a:lnSpc>
              </a:pPr>
              <a:r>
                <a:rPr lang="en-US" sz="1845">
                  <a:solidFill>
                    <a:srgbClr val="B3B5BD"/>
                  </a:solidFill>
                  <a:latin typeface="Arial"/>
                  <a:ea typeface="Arial"/>
                  <a:cs typeface="Arial"/>
                  <a:sym typeface="Arial"/>
                </a:rPr>
                <a:t>O projeto separa cálculo, interface e persistência para facilitar a manutenção e os testes.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0136" y="2736056"/>
            <a:ext cx="5171504" cy="6351080"/>
            <a:chOff x="0" y="0"/>
            <a:chExt cx="6895338" cy="84681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95338" cy="8468106"/>
            </a:xfrm>
            <a:custGeom>
              <a:avLst/>
              <a:gdLst/>
              <a:ahLst/>
              <a:cxnLst/>
              <a:rect r="r" b="b" t="t" l="l"/>
              <a:pathLst>
                <a:path h="8468106" w="6895338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6748653" y="0"/>
                  </a:lnTo>
                  <a:cubicBezTo>
                    <a:pt x="6829679" y="0"/>
                    <a:pt x="6895338" y="65659"/>
                    <a:pt x="6895338" y="146685"/>
                  </a:cubicBezTo>
                  <a:lnTo>
                    <a:pt x="6895338" y="8321421"/>
                  </a:lnTo>
                  <a:cubicBezTo>
                    <a:pt x="6895338" y="8402447"/>
                    <a:pt x="6829679" y="8468106"/>
                    <a:pt x="6748653" y="8468106"/>
                  </a:cubicBezTo>
                  <a:lnTo>
                    <a:pt x="146685" y="8468106"/>
                  </a:lnTo>
                  <a:cubicBezTo>
                    <a:pt x="65659" y="8468106"/>
                    <a:pt x="0" y="8402447"/>
                    <a:pt x="0" y="8321421"/>
                  </a:cubicBezTo>
                  <a:close/>
                </a:path>
              </a:pathLst>
            </a:custGeom>
            <a:solidFill>
              <a:srgbClr val="191B20"/>
            </a:solidFill>
            <a:ln w="14288" cap="sq">
              <a:solidFill>
                <a:srgbClr val="2B2E3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549104" y="2736056"/>
            <a:ext cx="5171504" cy="6351080"/>
            <a:chOff x="0" y="0"/>
            <a:chExt cx="6895338" cy="84681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95338" cy="8468106"/>
            </a:xfrm>
            <a:custGeom>
              <a:avLst/>
              <a:gdLst/>
              <a:ahLst/>
              <a:cxnLst/>
              <a:rect r="r" b="b" t="t" l="l"/>
              <a:pathLst>
                <a:path h="8468106" w="6895338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6748653" y="0"/>
                  </a:lnTo>
                  <a:cubicBezTo>
                    <a:pt x="6829679" y="0"/>
                    <a:pt x="6895338" y="65659"/>
                    <a:pt x="6895338" y="146685"/>
                  </a:cubicBezTo>
                  <a:lnTo>
                    <a:pt x="6895338" y="8321421"/>
                  </a:lnTo>
                  <a:cubicBezTo>
                    <a:pt x="6895338" y="8402447"/>
                    <a:pt x="6829679" y="8468106"/>
                    <a:pt x="6748653" y="8468106"/>
                  </a:cubicBezTo>
                  <a:lnTo>
                    <a:pt x="146685" y="8468106"/>
                  </a:lnTo>
                  <a:cubicBezTo>
                    <a:pt x="65659" y="8468106"/>
                    <a:pt x="0" y="8402447"/>
                    <a:pt x="0" y="8321421"/>
                  </a:cubicBezTo>
                  <a:close/>
                </a:path>
              </a:pathLst>
            </a:custGeom>
            <a:solidFill>
              <a:srgbClr val="191B20"/>
            </a:solidFill>
            <a:ln w="14288" cap="sq">
              <a:solidFill>
                <a:srgbClr val="2B2E3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008072" y="2736056"/>
            <a:ext cx="5171504" cy="6351080"/>
            <a:chOff x="0" y="0"/>
            <a:chExt cx="6895338" cy="84681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95338" cy="8468106"/>
            </a:xfrm>
            <a:custGeom>
              <a:avLst/>
              <a:gdLst/>
              <a:ahLst/>
              <a:cxnLst/>
              <a:rect r="r" b="b" t="t" l="l"/>
              <a:pathLst>
                <a:path h="8468106" w="6895338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6748653" y="0"/>
                  </a:lnTo>
                  <a:cubicBezTo>
                    <a:pt x="6829679" y="0"/>
                    <a:pt x="6895338" y="65659"/>
                    <a:pt x="6895338" y="146685"/>
                  </a:cubicBezTo>
                  <a:lnTo>
                    <a:pt x="6895338" y="8321421"/>
                  </a:lnTo>
                  <a:cubicBezTo>
                    <a:pt x="6895338" y="8402447"/>
                    <a:pt x="6829679" y="8468106"/>
                    <a:pt x="6748653" y="8468106"/>
                  </a:cubicBezTo>
                  <a:lnTo>
                    <a:pt x="146685" y="8468106"/>
                  </a:lnTo>
                  <a:cubicBezTo>
                    <a:pt x="65659" y="8468106"/>
                    <a:pt x="0" y="8402447"/>
                    <a:pt x="0" y="8321421"/>
                  </a:cubicBezTo>
                  <a:close/>
                </a:path>
              </a:pathLst>
            </a:custGeom>
            <a:solidFill>
              <a:srgbClr val="191B20"/>
            </a:solidFill>
            <a:ln w="14288" cap="sq">
              <a:solidFill>
                <a:srgbClr val="2B2E36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412748" y="3072384"/>
            <a:ext cx="3977640" cy="274320"/>
            <a:chOff x="0" y="0"/>
            <a:chExt cx="5303520" cy="365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03520" cy="365760"/>
            </a:xfrm>
            <a:custGeom>
              <a:avLst/>
              <a:gdLst/>
              <a:ahLst/>
              <a:cxnLst/>
              <a:rect r="r" b="b" t="t" l="l"/>
              <a:pathLst>
                <a:path h="36576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30352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20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  /  ENGINE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12748" y="3525012"/>
            <a:ext cx="4443984" cy="466344"/>
            <a:chOff x="0" y="0"/>
            <a:chExt cx="5925312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25312" cy="621792"/>
            </a:xfrm>
            <a:custGeom>
              <a:avLst/>
              <a:gdLst/>
              <a:ahLst/>
              <a:cxnLst/>
              <a:rect r="r" b="b" t="t" l="l"/>
              <a:pathLst>
                <a:path h="621792" w="5925312">
                  <a:moveTo>
                    <a:pt x="0" y="0"/>
                  </a:moveTo>
                  <a:lnTo>
                    <a:pt x="5925312" y="0"/>
                  </a:lnTo>
                  <a:lnTo>
                    <a:pt x="592531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680" r="0" b="-13568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5925312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Modelo matemático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12748" y="4224528"/>
            <a:ext cx="3429000" cy="246888"/>
            <a:chOff x="0" y="0"/>
            <a:chExt cx="4572000" cy="3291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72000" cy="329184"/>
            </a:xfrm>
            <a:custGeom>
              <a:avLst/>
              <a:gdLst/>
              <a:ahLst/>
              <a:cxnLst/>
              <a:rect r="r" b="b" t="t" l="l"/>
              <a:pathLst>
                <a:path h="3291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5720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spc="10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DESEMPENHO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12748" y="4507230"/>
            <a:ext cx="4361688" cy="67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2"/>
              </a:lnSpc>
            </a:pPr>
            <a:r>
              <a:rPr lang="en-US" sz="1635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Combinação ponderada dos clocks com fator de limitação por memória.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12748" y="5335524"/>
            <a:ext cx="3771900" cy="246888"/>
            <a:chOff x="0" y="0"/>
            <a:chExt cx="5029200" cy="3291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29200" cy="329184"/>
            </a:xfrm>
            <a:custGeom>
              <a:avLst/>
              <a:gdLst/>
              <a:ahLst/>
              <a:cxnLst/>
              <a:rect r="r" b="b" t="t" l="l"/>
              <a:pathLst>
                <a:path h="329184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688" r="0" b="-24768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0292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spc="10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POTÊNCIA ESTIMADA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412748" y="5641467"/>
            <a:ext cx="4361688" cy="73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P ≈ 12,5 W × (0,68·r_core +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0,32·r_mem) × (V / 2,5)²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412748" y="6569964"/>
            <a:ext cx="3429000" cy="246888"/>
            <a:chOff x="0" y="0"/>
            <a:chExt cx="4572000" cy="3291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72000" cy="329184"/>
            </a:xfrm>
            <a:custGeom>
              <a:avLst/>
              <a:gdLst/>
              <a:ahLst/>
              <a:cxnLst/>
              <a:rect r="r" b="b" t="t" l="l"/>
              <a:pathLst>
                <a:path h="3291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5720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spc="10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TEMPERATURA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412748" y="6866382"/>
            <a:ext cx="4361688" cy="745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T∞ = Tamb + P·Rθ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T(t) = Tamb + (T∞ − Tamb)(1 − e^(−t/τ))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12748" y="7949946"/>
            <a:ext cx="4361688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Falha: probabilidade heurística influenciada por clocks, tensão e calor.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871716" y="3072384"/>
            <a:ext cx="3977640" cy="274320"/>
            <a:chOff x="0" y="0"/>
            <a:chExt cx="5303520" cy="3657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03520" cy="365760"/>
            </a:xfrm>
            <a:custGeom>
              <a:avLst/>
              <a:gdLst/>
              <a:ahLst/>
              <a:cxnLst/>
              <a:rect r="r" b="b" t="t" l="l"/>
              <a:pathLst>
                <a:path h="36576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30352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20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  /  INTERFACE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871716" y="3525012"/>
            <a:ext cx="4443984" cy="466344"/>
            <a:chOff x="0" y="0"/>
            <a:chExt cx="5925312" cy="621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925312" cy="621792"/>
            </a:xfrm>
            <a:custGeom>
              <a:avLst/>
              <a:gdLst/>
              <a:ahLst/>
              <a:cxnLst/>
              <a:rect r="r" b="b" t="t" l="l"/>
              <a:pathLst>
                <a:path h="621792" w="5925312">
                  <a:moveTo>
                    <a:pt x="0" y="0"/>
                  </a:moveTo>
                  <a:lnTo>
                    <a:pt x="5925312" y="0"/>
                  </a:lnTo>
                  <a:lnTo>
                    <a:pt x="592531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680" r="0" b="-13568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5925312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Painel Streamlit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871716" y="4224528"/>
            <a:ext cx="3429000" cy="246888"/>
            <a:chOff x="0" y="0"/>
            <a:chExt cx="4572000" cy="32918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572000" cy="329184"/>
            </a:xfrm>
            <a:custGeom>
              <a:avLst/>
              <a:gdLst/>
              <a:ahLst/>
              <a:cxnLst/>
              <a:rect r="r" b="b" t="t" l="l"/>
              <a:pathLst>
                <a:path h="3291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45720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spc="10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ENTRADAS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6871716" y="4520946"/>
            <a:ext cx="4389120" cy="155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• Core clock e memory clock</a:t>
            </a: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• Vcore modelada e temperatura ambiente</a:t>
            </a: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• Refrigeração, resolução e carga gráfica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871716" y="6336792"/>
            <a:ext cx="3429000" cy="246888"/>
            <a:chOff x="0" y="0"/>
            <a:chExt cx="4572000" cy="3291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572000" cy="329184"/>
            </a:xfrm>
            <a:custGeom>
              <a:avLst/>
              <a:gdLst/>
              <a:ahLst/>
              <a:cxnLst/>
              <a:rect r="r" b="b" t="t" l="l"/>
              <a:pathLst>
                <a:path h="3291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5720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spc="10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SAÍDAS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6871716" y="6646926"/>
            <a:ext cx="4389120" cy="15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• FPS e índice de desempenho</a:t>
            </a: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• Gráficos de temperatura e potência</a:t>
            </a: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• Benchmark com sucesso/crash simulado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871716" y="8375142"/>
            <a:ext cx="4361688" cy="38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sz="1395" i="true">
                <a:solidFill>
                  <a:srgbClr val="777B86"/>
                </a:solidFill>
                <a:latin typeface="Arial Italics"/>
                <a:ea typeface="Arial Italics"/>
                <a:cs typeface="Arial Italics"/>
                <a:sym typeface="Arial Italics"/>
              </a:rPr>
              <a:t>Os gráficos exibem curvas calculadas, não telemetria real.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2330684" y="3072384"/>
            <a:ext cx="3977640" cy="274320"/>
            <a:chOff x="0" y="0"/>
            <a:chExt cx="5303520" cy="3657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03520" cy="365760"/>
            </a:xfrm>
            <a:custGeom>
              <a:avLst/>
              <a:gdLst/>
              <a:ahLst/>
              <a:cxnLst/>
              <a:rect r="r" b="b" t="t" l="l"/>
              <a:pathLst>
                <a:path h="36576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530352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20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  /  DADOS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330684" y="3525012"/>
            <a:ext cx="4498848" cy="466344"/>
            <a:chOff x="0" y="0"/>
            <a:chExt cx="5998464" cy="6217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998464" cy="621792"/>
            </a:xfrm>
            <a:custGeom>
              <a:avLst/>
              <a:gdLst/>
              <a:ahLst/>
              <a:cxnLst/>
              <a:rect r="r" b="b" t="t" l="l"/>
              <a:pathLst>
                <a:path h="621792" w="5998464">
                  <a:moveTo>
                    <a:pt x="0" y="0"/>
                  </a:moveTo>
                  <a:lnTo>
                    <a:pt x="5998464" y="0"/>
                  </a:lnTo>
                  <a:lnTo>
                    <a:pt x="599846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73" r="0" b="-13797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5998464" cy="631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51"/>
                </a:lnSpc>
              </a:pPr>
              <a:r>
                <a:rPr lang="en-US" sz="2460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Persistência e testes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330684" y="4224528"/>
            <a:ext cx="3429000" cy="246888"/>
            <a:chOff x="0" y="0"/>
            <a:chExt cx="4572000" cy="3291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572000" cy="329184"/>
            </a:xfrm>
            <a:custGeom>
              <a:avLst/>
              <a:gdLst/>
              <a:ahLst/>
              <a:cxnLst/>
              <a:rect r="r" b="b" t="t" l="l"/>
              <a:pathLst>
                <a:path h="3291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5720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spc="10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BANCO DE DADOS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330684" y="4520946"/>
            <a:ext cx="4389120" cy="170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SQLite + SQLAlchemy</a:t>
            </a:r>
          </a:p>
          <a:p>
            <a:pPr algn="l">
              <a:lnSpc>
                <a:spcPts val="1944"/>
              </a:lnSpc>
            </a:pPr>
          </a:p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Perfis de overclock e histórico de benchmarks armazenam configuração, pontuação, temperatura e status da execução.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2330684" y="6569964"/>
            <a:ext cx="3429000" cy="246888"/>
            <a:chOff x="0" y="0"/>
            <a:chExt cx="4572000" cy="3291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572000" cy="329184"/>
            </a:xfrm>
            <a:custGeom>
              <a:avLst/>
              <a:gdLst/>
              <a:ahLst/>
              <a:cxnLst/>
              <a:rect r="r" b="b" t="t" l="l"/>
              <a:pathLst>
                <a:path h="32918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457200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b="true" sz="1320" spc="10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VALIDAÇÃO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330684" y="6866382"/>
            <a:ext cx="4389120" cy="13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B3B5BD"/>
                </a:solidFill>
                <a:latin typeface="Arial"/>
                <a:ea typeface="Arial"/>
                <a:cs typeface="Arial"/>
                <a:sym typeface="Arial"/>
              </a:rPr>
              <a:t>Testes automatizados cobrem cálculos, referência de desempenho, risco heurístico, reprodutibilidade e banco de dados.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2323540" y="8387048"/>
            <a:ext cx="2688908" cy="439484"/>
            <a:chOff x="0" y="0"/>
            <a:chExt cx="3585210" cy="58597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585210" cy="585978"/>
            </a:xfrm>
            <a:custGeom>
              <a:avLst/>
              <a:gdLst/>
              <a:ahLst/>
              <a:cxnLst/>
              <a:rect r="r" b="b" t="t" l="l"/>
              <a:pathLst>
                <a:path h="585978" w="3585210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3433953" y="0"/>
                  </a:lnTo>
                  <a:cubicBezTo>
                    <a:pt x="3517519" y="0"/>
                    <a:pt x="3585210" y="67691"/>
                    <a:pt x="3585210" y="151257"/>
                  </a:cubicBezTo>
                  <a:lnTo>
                    <a:pt x="3585210" y="434721"/>
                  </a:lnTo>
                  <a:cubicBezTo>
                    <a:pt x="3585210" y="518287"/>
                    <a:pt x="3517519" y="585978"/>
                    <a:pt x="3433953" y="585978"/>
                  </a:cubicBezTo>
                  <a:lnTo>
                    <a:pt x="151257" y="585978"/>
                  </a:lnTo>
                  <a:cubicBezTo>
                    <a:pt x="67691" y="585978"/>
                    <a:pt x="0" y="518287"/>
                    <a:pt x="0" y="434721"/>
                  </a:cubicBezTo>
                  <a:close/>
                </a:path>
              </a:pathLst>
            </a:custGeom>
            <a:solidFill>
              <a:srgbClr val="202228"/>
            </a:solidFill>
          </p:spPr>
        </p:sp>
      </p:grpSp>
      <p:sp>
        <p:nvSpPr>
          <p:cNvPr name="AutoShape 70" id="70"/>
          <p:cNvSpPr/>
          <p:nvPr/>
        </p:nvSpPr>
        <p:spPr>
          <a:xfrm rot="2460">
            <a:off x="1064133" y="9623870"/>
            <a:ext cx="16155162" cy="0"/>
          </a:xfrm>
          <a:prstGeom prst="line">
            <a:avLst/>
          </a:prstGeom>
          <a:ln cap="rnd" w="9525">
            <a:solidFill>
              <a:srgbClr val="2A2C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1097280" y="9765792"/>
            <a:ext cx="11932920" cy="219456"/>
            <a:chOff x="0" y="0"/>
            <a:chExt cx="15910560" cy="29260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5910561" cy="292608"/>
            </a:xfrm>
            <a:custGeom>
              <a:avLst/>
              <a:gdLst/>
              <a:ahLst/>
              <a:cxnLst/>
              <a:rect r="r" b="b" t="t" l="l"/>
              <a:pathLst>
                <a:path h="292608" w="15910561">
                  <a:moveTo>
                    <a:pt x="0" y="0"/>
                  </a:moveTo>
                  <a:lnTo>
                    <a:pt x="15910561" y="0"/>
                  </a:lnTo>
                  <a:lnTo>
                    <a:pt x="15910561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9498" r="0" b="-100949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1591056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89">
                  <a:solidFill>
                    <a:srgbClr val="777B8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SST-1 OC LAB  •  SIMULAÇÃO COMPUTACIONAL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17030700" y="9833610"/>
            <a:ext cx="1017118" cy="37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1758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56210" cy="10306050"/>
            <a:chOff x="0" y="0"/>
            <a:chExt cx="20828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828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08280">
                  <a:moveTo>
                    <a:pt x="0" y="0"/>
                  </a:moveTo>
                  <a:lnTo>
                    <a:pt x="208280" y="0"/>
                  </a:lnTo>
                  <a:lnTo>
                    <a:pt x="208280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FD229"/>
            </a:solidFill>
          </p:spPr>
        </p:sp>
      </p:grpSp>
      <p:sp>
        <p:nvSpPr>
          <p:cNvPr name="AutoShape 4" id="4"/>
          <p:cNvSpPr/>
          <p:nvPr/>
        </p:nvSpPr>
        <p:spPr>
          <a:xfrm rot="1980">
            <a:off x="886777" y="475297"/>
            <a:ext cx="16468725" cy="0"/>
          </a:xfrm>
          <a:prstGeom prst="line">
            <a:avLst/>
          </a:prstGeom>
          <a:ln cap="rnd" w="9525">
            <a:solidFill>
              <a:srgbClr val="24262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69848" y="713232"/>
            <a:ext cx="6035040" cy="329184"/>
            <a:chOff x="0" y="0"/>
            <a:chExt cx="8046720" cy="4389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46720" cy="438912"/>
            </a:xfrm>
            <a:custGeom>
              <a:avLst/>
              <a:gdLst/>
              <a:ahLst/>
              <a:cxnLst/>
              <a:rect r="r" b="b" t="t" l="l"/>
              <a:pathLst>
                <a:path h="43891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80467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6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  /  RESULTADOS PRELIMINARES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9848" y="1138428"/>
            <a:ext cx="16184880" cy="754380"/>
            <a:chOff x="0" y="0"/>
            <a:chExt cx="215798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042" r="0" b="-36804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579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 desempenho cresce — e o risco modelado também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010608" y="664940"/>
            <a:ext cx="3114104" cy="439484"/>
            <a:chOff x="0" y="0"/>
            <a:chExt cx="4152138" cy="585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52138" cy="585978"/>
            </a:xfrm>
            <a:custGeom>
              <a:avLst/>
              <a:gdLst/>
              <a:ahLst/>
              <a:cxnLst/>
              <a:rect r="r" b="b" t="t" l="l"/>
              <a:pathLst>
                <a:path h="585978" w="4152138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4000881" y="0"/>
                  </a:lnTo>
                  <a:cubicBezTo>
                    <a:pt x="4084447" y="0"/>
                    <a:pt x="4152138" y="67691"/>
                    <a:pt x="4152138" y="151257"/>
                  </a:cubicBezTo>
                  <a:lnTo>
                    <a:pt x="4152138" y="434721"/>
                  </a:lnTo>
                  <a:cubicBezTo>
                    <a:pt x="4152138" y="518287"/>
                    <a:pt x="4084447" y="585978"/>
                    <a:pt x="4000881" y="585978"/>
                  </a:cubicBezTo>
                  <a:lnTo>
                    <a:pt x="151257" y="585978"/>
                  </a:lnTo>
                  <a:cubicBezTo>
                    <a:pt x="67691" y="585978"/>
                    <a:pt x="0" y="518287"/>
                    <a:pt x="0" y="434721"/>
                  </a:cubicBezTo>
                  <a:close/>
                </a:path>
              </a:pathLst>
            </a:custGeom>
            <a:solidFill>
              <a:srgbClr val="20222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182344" y="685800"/>
            <a:ext cx="2770632" cy="384048"/>
            <a:chOff x="0" y="0"/>
            <a:chExt cx="3694176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94176" cy="512064"/>
            </a:xfrm>
            <a:custGeom>
              <a:avLst/>
              <a:gdLst/>
              <a:ahLst/>
              <a:cxnLst/>
              <a:rect r="r" b="b" t="t" l="l"/>
              <a:pathLst>
                <a:path h="512064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570" r="0" b="-9057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3694176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74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CENÁRIO ILUSTRATIVO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0136" y="2214848"/>
            <a:ext cx="7626668" cy="6817424"/>
            <a:chOff x="0" y="0"/>
            <a:chExt cx="10168890" cy="90898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8889" cy="9089898"/>
            </a:xfrm>
            <a:custGeom>
              <a:avLst/>
              <a:gdLst/>
              <a:ahLst/>
              <a:cxnLst/>
              <a:rect r="r" b="b" t="t" l="l"/>
              <a:pathLst>
                <a:path h="9089898" w="10168889">
                  <a:moveTo>
                    <a:pt x="0" y="146558"/>
                  </a:moveTo>
                  <a:cubicBezTo>
                    <a:pt x="0" y="65659"/>
                    <a:pt x="65659" y="0"/>
                    <a:pt x="146558" y="0"/>
                  </a:cubicBezTo>
                  <a:lnTo>
                    <a:pt x="10022332" y="0"/>
                  </a:lnTo>
                  <a:cubicBezTo>
                    <a:pt x="10103358" y="0"/>
                    <a:pt x="10168889" y="65659"/>
                    <a:pt x="10168889" y="146558"/>
                  </a:cubicBezTo>
                  <a:lnTo>
                    <a:pt x="10168889" y="8943340"/>
                  </a:lnTo>
                  <a:cubicBezTo>
                    <a:pt x="10168889" y="9024366"/>
                    <a:pt x="10103231" y="9089898"/>
                    <a:pt x="10022332" y="9089898"/>
                  </a:cubicBezTo>
                  <a:lnTo>
                    <a:pt x="146558" y="9089898"/>
                  </a:lnTo>
                  <a:cubicBezTo>
                    <a:pt x="65659" y="9089898"/>
                    <a:pt x="0" y="9024239"/>
                    <a:pt x="0" y="8943340"/>
                  </a:cubicBezTo>
                  <a:close/>
                </a:path>
              </a:pathLst>
            </a:custGeom>
            <a:solidFill>
              <a:srgbClr val="191B20"/>
            </a:solidFill>
            <a:ln w="14288" cap="sq">
              <a:solidFill>
                <a:srgbClr val="2B2E36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81328" y="2578608"/>
            <a:ext cx="6446520" cy="301752"/>
            <a:chOff x="0" y="0"/>
            <a:chExt cx="8595360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95360" cy="402336"/>
            </a:xfrm>
            <a:custGeom>
              <a:avLst/>
              <a:gdLst/>
              <a:ahLst/>
              <a:cxnLst/>
              <a:rect r="r" b="b" t="t" l="l"/>
              <a:pathLst>
                <a:path h="402336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271" r="0" b="-36627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59536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55"/>
                </a:lnSpc>
              </a:pPr>
              <a:r>
                <a:rPr lang="en-US" b="true" sz="1380" spc="105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FPS ESTIMADO  /  640 × 480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81328" y="3017520"/>
            <a:ext cx="6720840" cy="329184"/>
            <a:chOff x="0" y="0"/>
            <a:chExt cx="8961120" cy="4389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61120" cy="438912"/>
            </a:xfrm>
            <a:custGeom>
              <a:avLst/>
              <a:gdLst/>
              <a:ahLst/>
              <a:cxnLst/>
              <a:rect r="r" b="b" t="t" l="l"/>
              <a:pathLst>
                <a:path h="438912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819" r="0" b="-3478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8961120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B3B5BD"/>
                  </a:solidFill>
                  <a:latin typeface="Arial"/>
                  <a:ea typeface="Arial"/>
                  <a:cs typeface="Arial"/>
                  <a:sym typeface="Arial"/>
                </a:rPr>
                <a:t>Mesma carga equilibrada e mesmas condições ambientais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10860">
            <a:off x="1910696" y="7347014"/>
            <a:ext cx="6026687" cy="0"/>
          </a:xfrm>
          <a:prstGeom prst="line">
            <a:avLst/>
          </a:prstGeom>
          <a:ln cap="rnd" w="9525">
            <a:solidFill>
              <a:srgbClr val="4A4D5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2544032" y="5012912"/>
            <a:ext cx="1660208" cy="2346008"/>
            <a:chOff x="0" y="0"/>
            <a:chExt cx="2213610" cy="31280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3610" cy="3128010"/>
            </a:xfrm>
            <a:custGeom>
              <a:avLst/>
              <a:gdLst/>
              <a:ahLst/>
              <a:cxnLst/>
              <a:rect r="r" b="b" t="t" l="l"/>
              <a:pathLst>
                <a:path h="3128010" w="2213610">
                  <a:moveTo>
                    <a:pt x="0" y="0"/>
                  </a:moveTo>
                  <a:lnTo>
                    <a:pt x="2213610" y="0"/>
                  </a:lnTo>
                  <a:lnTo>
                    <a:pt x="2213610" y="3128010"/>
                  </a:lnTo>
                  <a:lnTo>
                    <a:pt x="0" y="3128010"/>
                  </a:lnTo>
                  <a:close/>
                </a:path>
              </a:pathLst>
            </a:custGeom>
            <a:solidFill>
              <a:srgbClr val="62667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561552" y="4779740"/>
            <a:ext cx="1660208" cy="2579179"/>
            <a:chOff x="0" y="0"/>
            <a:chExt cx="2213610" cy="34389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3610" cy="3438906"/>
            </a:xfrm>
            <a:custGeom>
              <a:avLst/>
              <a:gdLst/>
              <a:ahLst/>
              <a:cxnLst/>
              <a:rect r="r" b="b" t="t" l="l"/>
              <a:pathLst>
                <a:path h="3438906" w="2213610">
                  <a:moveTo>
                    <a:pt x="0" y="0"/>
                  </a:moveTo>
                  <a:lnTo>
                    <a:pt x="2213610" y="0"/>
                  </a:lnTo>
                  <a:lnTo>
                    <a:pt x="2213610" y="3438906"/>
                  </a:lnTo>
                  <a:lnTo>
                    <a:pt x="0" y="3438906"/>
                  </a:lnTo>
                  <a:close/>
                </a:path>
              </a:pathLst>
            </a:custGeom>
            <a:solidFill>
              <a:srgbClr val="FFD22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551176" y="4526280"/>
            <a:ext cx="1645920" cy="356616"/>
            <a:chOff x="0" y="0"/>
            <a:chExt cx="2194560" cy="4754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" cy="475488"/>
            </a:xfrm>
            <a:custGeom>
              <a:avLst/>
              <a:gdLst/>
              <a:ahLst/>
              <a:cxnLst/>
              <a:rect r="r" b="b" t="t" l="l"/>
              <a:pathLst>
                <a:path h="47548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219456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32,0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568696" y="4293108"/>
            <a:ext cx="1645920" cy="356616"/>
            <a:chOff x="0" y="0"/>
            <a:chExt cx="2194560" cy="4754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" cy="475488"/>
            </a:xfrm>
            <a:custGeom>
              <a:avLst/>
              <a:gdLst/>
              <a:ahLst/>
              <a:cxnLst/>
              <a:rect r="r" b="b" t="t" l="l"/>
              <a:pathLst>
                <a:path h="47548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2194560" cy="494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35,2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29968" y="7612380"/>
            <a:ext cx="2674620" cy="274320"/>
            <a:chOff x="0" y="0"/>
            <a:chExt cx="3566160" cy="3657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66160" cy="365760"/>
            </a:xfrm>
            <a:custGeom>
              <a:avLst/>
              <a:gdLst/>
              <a:ahLst/>
              <a:cxnLst/>
              <a:rect r="r" b="b" t="t" l="l"/>
              <a:pathLst>
                <a:path h="36576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35661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38"/>
                </a:lnSpc>
              </a:pPr>
              <a:r>
                <a:rPr lang="en-US" sz="1364" b="true">
                  <a:solidFill>
                    <a:srgbClr val="B3B5B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REFERÊNCIA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029968" y="7941564"/>
            <a:ext cx="2674620" cy="274320"/>
            <a:chOff x="0" y="0"/>
            <a:chExt cx="3566160" cy="365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566160" cy="365760"/>
            </a:xfrm>
            <a:custGeom>
              <a:avLst/>
              <a:gdLst/>
              <a:ahLst/>
              <a:cxnLst/>
              <a:rect r="r" b="b" t="t" l="l"/>
              <a:pathLst>
                <a:path h="36576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35661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92"/>
                </a:lnSpc>
              </a:pPr>
              <a:r>
                <a:rPr lang="en-US" sz="1410">
                  <a:solidFill>
                    <a:srgbClr val="B3B5BD"/>
                  </a:solidFill>
                  <a:latin typeface="Arial"/>
                  <a:ea typeface="Arial"/>
                  <a:cs typeface="Arial"/>
                  <a:sym typeface="Arial"/>
                </a:rPr>
                <a:t>50 / 50 MHz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047488" y="7612380"/>
            <a:ext cx="2674620" cy="274320"/>
            <a:chOff x="0" y="0"/>
            <a:chExt cx="3566160" cy="3657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66160" cy="365760"/>
            </a:xfrm>
            <a:custGeom>
              <a:avLst/>
              <a:gdLst/>
              <a:ahLst/>
              <a:cxnLst/>
              <a:rect r="r" b="b" t="t" l="l"/>
              <a:pathLst>
                <a:path h="36576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35661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38"/>
                </a:lnSpc>
              </a:pPr>
              <a:r>
                <a:rPr lang="en-US" sz="1364" b="true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OVERCLOCK LEVE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047488" y="7941564"/>
            <a:ext cx="2674620" cy="274320"/>
            <a:chOff x="0" y="0"/>
            <a:chExt cx="3566160" cy="3657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566160" cy="365760"/>
            </a:xfrm>
            <a:custGeom>
              <a:avLst/>
              <a:gdLst/>
              <a:ahLst/>
              <a:cxnLst/>
              <a:rect r="r" b="b" t="t" l="l"/>
              <a:pathLst>
                <a:path h="36576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56616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92"/>
                </a:lnSpc>
              </a:pPr>
              <a:r>
                <a:rPr lang="en-US" sz="1410">
                  <a:solidFill>
                    <a:srgbClr val="B3B5BD"/>
                  </a:solidFill>
                  <a:latin typeface="Arial"/>
                  <a:ea typeface="Arial"/>
                  <a:cs typeface="Arial"/>
                  <a:sym typeface="Arial"/>
                </a:rPr>
                <a:t>55 / 55 MHz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010376" y="8400764"/>
            <a:ext cx="3415856" cy="439484"/>
            <a:chOff x="0" y="0"/>
            <a:chExt cx="4554474" cy="58597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554474" cy="585978"/>
            </a:xfrm>
            <a:custGeom>
              <a:avLst/>
              <a:gdLst/>
              <a:ahLst/>
              <a:cxnLst/>
              <a:rect r="r" b="b" t="t" l="l"/>
              <a:pathLst>
                <a:path h="585978" w="4554474">
                  <a:moveTo>
                    <a:pt x="0" y="151257"/>
                  </a:moveTo>
                  <a:cubicBezTo>
                    <a:pt x="0" y="67691"/>
                    <a:pt x="67691" y="0"/>
                    <a:pt x="151257" y="0"/>
                  </a:cubicBezTo>
                  <a:lnTo>
                    <a:pt x="4403217" y="0"/>
                  </a:lnTo>
                  <a:cubicBezTo>
                    <a:pt x="4486783" y="0"/>
                    <a:pt x="4554474" y="67691"/>
                    <a:pt x="4554474" y="151257"/>
                  </a:cubicBezTo>
                  <a:lnTo>
                    <a:pt x="4554474" y="434721"/>
                  </a:lnTo>
                  <a:cubicBezTo>
                    <a:pt x="4554474" y="518287"/>
                    <a:pt x="4486783" y="585978"/>
                    <a:pt x="4403217" y="585978"/>
                  </a:cubicBezTo>
                  <a:lnTo>
                    <a:pt x="151257" y="585978"/>
                  </a:lnTo>
                  <a:cubicBezTo>
                    <a:pt x="67691" y="585978"/>
                    <a:pt x="0" y="518287"/>
                    <a:pt x="0" y="434721"/>
                  </a:cubicBezTo>
                  <a:close/>
                </a:path>
              </a:pathLst>
            </a:custGeom>
            <a:solidFill>
              <a:srgbClr val="20222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182112" y="8421624"/>
            <a:ext cx="3072384" cy="384048"/>
            <a:chOff x="0" y="0"/>
            <a:chExt cx="4096512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096512" cy="512064"/>
            </a:xfrm>
            <a:custGeom>
              <a:avLst/>
              <a:gdLst/>
              <a:ahLst/>
              <a:cxnLst/>
              <a:rect r="r" b="b" t="t" l="l"/>
              <a:pathLst>
                <a:path h="512064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096512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b="true" sz="1275" spc="74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+10% FPS ESTIMADO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82576" y="2214848"/>
            <a:ext cx="3786188" cy="2208848"/>
            <a:chOff x="0" y="0"/>
            <a:chExt cx="5048250" cy="29451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048250" cy="2945003"/>
            </a:xfrm>
            <a:custGeom>
              <a:avLst/>
              <a:gdLst/>
              <a:ahLst/>
              <a:cxnLst/>
              <a:rect r="r" b="b" t="t" l="l"/>
              <a:pathLst>
                <a:path h="2945003" w="504825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900930" y="0"/>
                  </a:lnTo>
                  <a:cubicBezTo>
                    <a:pt x="4982210" y="0"/>
                    <a:pt x="5048250" y="65913"/>
                    <a:pt x="5048250" y="147193"/>
                  </a:cubicBezTo>
                  <a:lnTo>
                    <a:pt x="5048250" y="2797810"/>
                  </a:lnTo>
                  <a:cubicBezTo>
                    <a:pt x="5048250" y="2879090"/>
                    <a:pt x="4982337" y="2945003"/>
                    <a:pt x="4900930" y="2945003"/>
                  </a:cubicBezTo>
                  <a:lnTo>
                    <a:pt x="147193" y="2945003"/>
                  </a:lnTo>
                  <a:cubicBezTo>
                    <a:pt x="65913" y="2945130"/>
                    <a:pt x="0" y="2879217"/>
                    <a:pt x="0" y="2797810"/>
                  </a:cubicBezTo>
                  <a:close/>
                </a:path>
              </a:pathLst>
            </a:custGeom>
            <a:solidFill>
              <a:srgbClr val="191B20"/>
            </a:solidFill>
            <a:ln w="14288" cap="sq">
              <a:solidFill>
                <a:srgbClr val="2B2E36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464040" y="2482596"/>
            <a:ext cx="3223260" cy="260604"/>
            <a:chOff x="0" y="0"/>
            <a:chExt cx="4297680" cy="34747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97680" cy="347472"/>
            </a:xfrm>
            <a:custGeom>
              <a:avLst/>
              <a:gdLst/>
              <a:ahLst/>
              <a:cxnLst/>
              <a:rect r="r" b="b" t="t" l="l"/>
              <a:pathLst>
                <a:path h="347472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4297680" cy="356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b="true" sz="1230" spc="82">
                  <a:solidFill>
                    <a:srgbClr val="B3B5B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POTÊNCIA ESTIMADA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464040" y="2990088"/>
            <a:ext cx="3223260" cy="507492"/>
            <a:chOff x="0" y="0"/>
            <a:chExt cx="4297680" cy="6766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97680" cy="676656"/>
            </a:xfrm>
            <a:custGeom>
              <a:avLst/>
              <a:gdLst/>
              <a:ahLst/>
              <a:cxnLst/>
              <a:rect r="r" b="b" t="t" l="l"/>
              <a:pathLst>
                <a:path h="67665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56" r="0" b="-7375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4297680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625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12,5 → 13,8 W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464040" y="3730752"/>
            <a:ext cx="3223260" cy="301752"/>
            <a:chOff x="0" y="0"/>
            <a:chExt cx="4297680" cy="4023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>
                  <a:solidFill>
                    <a:srgbClr val="B3B5BD"/>
                  </a:solidFill>
                  <a:latin typeface="Arial"/>
                  <a:ea typeface="Arial"/>
                  <a:cs typeface="Arial"/>
                  <a:sym typeface="Arial"/>
                </a:rPr>
                <a:t>+10,4% no modelo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256228" y="2214848"/>
            <a:ext cx="3786188" cy="2208848"/>
            <a:chOff x="0" y="0"/>
            <a:chExt cx="5048250" cy="294513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048250" cy="2945003"/>
            </a:xfrm>
            <a:custGeom>
              <a:avLst/>
              <a:gdLst/>
              <a:ahLst/>
              <a:cxnLst/>
              <a:rect r="r" b="b" t="t" l="l"/>
              <a:pathLst>
                <a:path h="2945003" w="504825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900930" y="0"/>
                  </a:lnTo>
                  <a:cubicBezTo>
                    <a:pt x="4982210" y="0"/>
                    <a:pt x="5048250" y="65913"/>
                    <a:pt x="5048250" y="147193"/>
                  </a:cubicBezTo>
                  <a:lnTo>
                    <a:pt x="5048250" y="2797810"/>
                  </a:lnTo>
                  <a:cubicBezTo>
                    <a:pt x="5048250" y="2879090"/>
                    <a:pt x="4982337" y="2945003"/>
                    <a:pt x="4900930" y="2945003"/>
                  </a:cubicBezTo>
                  <a:lnTo>
                    <a:pt x="147193" y="2945003"/>
                  </a:lnTo>
                  <a:cubicBezTo>
                    <a:pt x="65913" y="2945130"/>
                    <a:pt x="0" y="2879217"/>
                    <a:pt x="0" y="2797810"/>
                  </a:cubicBezTo>
                  <a:close/>
                </a:path>
              </a:pathLst>
            </a:custGeom>
            <a:solidFill>
              <a:srgbClr val="191B20"/>
            </a:solidFill>
            <a:ln w="14288" cap="sq">
              <a:solidFill>
                <a:srgbClr val="2B2E36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3537692" y="2482596"/>
            <a:ext cx="3223260" cy="260604"/>
            <a:chOff x="0" y="0"/>
            <a:chExt cx="4297680" cy="3474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97680" cy="347472"/>
            </a:xfrm>
            <a:custGeom>
              <a:avLst/>
              <a:gdLst/>
              <a:ahLst/>
              <a:cxnLst/>
              <a:rect r="r" b="b" t="t" l="l"/>
              <a:pathLst>
                <a:path h="347472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4297680" cy="356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b="true" sz="1230" spc="82">
                  <a:solidFill>
                    <a:srgbClr val="B3B5B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TEMP. DE EQUILÍBRIO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537692" y="2990088"/>
            <a:ext cx="3223260" cy="507492"/>
            <a:chOff x="0" y="0"/>
            <a:chExt cx="4297680" cy="6766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97680" cy="676656"/>
            </a:xfrm>
            <a:custGeom>
              <a:avLst/>
              <a:gdLst/>
              <a:ahLst/>
              <a:cxnLst/>
              <a:rect r="r" b="b" t="t" l="l"/>
              <a:pathLst>
                <a:path h="67665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56" r="0" b="-7375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297680" cy="686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50,0 → 52,5 °C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537692" y="3730752"/>
            <a:ext cx="3223260" cy="301752"/>
            <a:chOff x="0" y="0"/>
            <a:chExt cx="4297680" cy="4023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>
                  <a:solidFill>
                    <a:srgbClr val="B3B5BD"/>
                  </a:solidFill>
                  <a:latin typeface="Arial"/>
                  <a:ea typeface="Arial"/>
                  <a:cs typeface="Arial"/>
                  <a:sym typeface="Arial"/>
                </a:rPr>
                <a:t>+2,5 °C estimados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1219402" y="4704588"/>
            <a:ext cx="3786188" cy="2208848"/>
            <a:chOff x="0" y="0"/>
            <a:chExt cx="5048250" cy="294513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048250" cy="2945003"/>
            </a:xfrm>
            <a:custGeom>
              <a:avLst/>
              <a:gdLst/>
              <a:ahLst/>
              <a:cxnLst/>
              <a:rect r="r" b="b" t="t" l="l"/>
              <a:pathLst>
                <a:path h="2945003" w="504825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900930" y="0"/>
                  </a:lnTo>
                  <a:cubicBezTo>
                    <a:pt x="4982210" y="0"/>
                    <a:pt x="5048250" y="65913"/>
                    <a:pt x="5048250" y="147193"/>
                  </a:cubicBezTo>
                  <a:lnTo>
                    <a:pt x="5048250" y="2797810"/>
                  </a:lnTo>
                  <a:cubicBezTo>
                    <a:pt x="5048250" y="2879090"/>
                    <a:pt x="4982337" y="2945003"/>
                    <a:pt x="4900930" y="2945003"/>
                  </a:cubicBezTo>
                  <a:lnTo>
                    <a:pt x="147193" y="2945003"/>
                  </a:lnTo>
                  <a:cubicBezTo>
                    <a:pt x="65913" y="2945130"/>
                    <a:pt x="0" y="2879217"/>
                    <a:pt x="0" y="2797810"/>
                  </a:cubicBezTo>
                  <a:close/>
                </a:path>
              </a:pathLst>
            </a:custGeom>
            <a:solidFill>
              <a:srgbClr val="191B20"/>
            </a:solidFill>
            <a:ln w="14288" cap="sq">
              <a:solidFill>
                <a:srgbClr val="2B2E36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1500866" y="4972336"/>
            <a:ext cx="3223260" cy="260604"/>
            <a:chOff x="0" y="0"/>
            <a:chExt cx="4297680" cy="34747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297680" cy="347472"/>
            </a:xfrm>
            <a:custGeom>
              <a:avLst/>
              <a:gdLst/>
              <a:ahLst/>
              <a:cxnLst/>
              <a:rect r="r" b="b" t="t" l="l"/>
              <a:pathLst>
                <a:path h="347472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999" r="0" b="-19099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4297680" cy="3569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b="true" sz="1230" spc="82">
                  <a:solidFill>
                    <a:srgbClr val="B3B5B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RISCO HEURÍSTICO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500866" y="5479828"/>
            <a:ext cx="3223260" cy="507492"/>
            <a:chOff x="0" y="0"/>
            <a:chExt cx="4297680" cy="6766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297680" cy="676656"/>
            </a:xfrm>
            <a:custGeom>
              <a:avLst/>
              <a:gdLst/>
              <a:ahLst/>
              <a:cxnLst/>
              <a:rect r="r" b="b" t="t" l="l"/>
              <a:pathLst>
                <a:path h="67665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56" r="0" b="-7375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4297680" cy="6957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625" b="true">
                  <a:solidFill>
                    <a:srgbClr val="F5F4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0,7% → 8,3%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500866" y="6220492"/>
            <a:ext cx="3223260" cy="301752"/>
            <a:chOff x="0" y="0"/>
            <a:chExt cx="4297680" cy="40233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429768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>
                  <a:solidFill>
                    <a:srgbClr val="B3B5BD"/>
                  </a:solidFill>
                  <a:latin typeface="Arial"/>
                  <a:ea typeface="Arial"/>
                  <a:cs typeface="Arial"/>
                  <a:sym typeface="Arial"/>
                </a:rPr>
                <a:t>Probabilidade por execução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182576" y="7152608"/>
            <a:ext cx="7859840" cy="1879664"/>
            <a:chOff x="0" y="0"/>
            <a:chExt cx="10479786" cy="250621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479786" cy="2506218"/>
            </a:xfrm>
            <a:custGeom>
              <a:avLst/>
              <a:gdLst/>
              <a:ahLst/>
              <a:cxnLst/>
              <a:rect r="r" b="b" t="t" l="l"/>
              <a:pathLst>
                <a:path h="2506218" w="10479786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332339" y="0"/>
                  </a:lnTo>
                  <a:cubicBezTo>
                    <a:pt x="10413746" y="0"/>
                    <a:pt x="10479786" y="66040"/>
                    <a:pt x="10479786" y="147447"/>
                  </a:cubicBezTo>
                  <a:lnTo>
                    <a:pt x="10479786" y="2358771"/>
                  </a:lnTo>
                  <a:cubicBezTo>
                    <a:pt x="10479786" y="2440178"/>
                    <a:pt x="10413746" y="2506218"/>
                    <a:pt x="10332339" y="2506218"/>
                  </a:cubicBezTo>
                  <a:lnTo>
                    <a:pt x="147447" y="2506218"/>
                  </a:lnTo>
                  <a:cubicBezTo>
                    <a:pt x="66040" y="2506218"/>
                    <a:pt x="0" y="2440178"/>
                    <a:pt x="0" y="2358771"/>
                  </a:cubicBezTo>
                  <a:close/>
                </a:path>
              </a:pathLst>
            </a:custGeom>
            <a:solidFill>
              <a:srgbClr val="24232A"/>
            </a:solidFill>
            <a:ln w="14288" cap="sq">
              <a:solidFill>
                <a:srgbClr val="38343A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9532620" y="7447788"/>
            <a:ext cx="3703320" cy="260604"/>
            <a:chOff x="0" y="0"/>
            <a:chExt cx="4937760" cy="34747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937760" cy="347472"/>
            </a:xfrm>
            <a:custGeom>
              <a:avLst/>
              <a:gdLst/>
              <a:ahLst/>
              <a:cxnLst/>
              <a:rect r="r" b="b" t="t" l="l"/>
              <a:pathLst>
                <a:path h="34747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892" r="0" b="-22689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493776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7"/>
                </a:lnSpc>
              </a:pPr>
              <a:r>
                <a:rPr lang="en-US" b="true" sz="1289" spc="104">
                  <a:solidFill>
                    <a:srgbClr val="FFD22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LEITURA DO RESULTADO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9532620" y="7826502"/>
            <a:ext cx="7022592" cy="75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5"/>
              </a:lnSpc>
            </a:pPr>
            <a:r>
              <a:rPr lang="en-US" sz="1604">
                <a:solidFill>
                  <a:srgbClr val="F5F4EF"/>
                </a:solidFill>
                <a:latin typeface="Arial"/>
                <a:ea typeface="Arial"/>
                <a:cs typeface="Arial"/>
                <a:sym typeface="Arial"/>
              </a:rPr>
              <a:t>O cenário de 55/55 MHz oferece ganho estimado de 10%, acompanhado de maior consumo, aquecimento e risco de falha calculado.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090136" y="9155144"/>
            <a:ext cx="15952280" cy="357188"/>
            <a:chOff x="0" y="0"/>
            <a:chExt cx="21269706" cy="47625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1269706" cy="476250"/>
            </a:xfrm>
            <a:custGeom>
              <a:avLst/>
              <a:gdLst/>
              <a:ahLst/>
              <a:cxnLst/>
              <a:rect r="r" b="b" t="t" l="l"/>
              <a:pathLst>
                <a:path h="476250" w="21269706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1117306" y="0"/>
                  </a:lnTo>
                  <a:cubicBezTo>
                    <a:pt x="21201507" y="0"/>
                    <a:pt x="21269706" y="68199"/>
                    <a:pt x="21269706" y="152400"/>
                  </a:cubicBezTo>
                  <a:lnTo>
                    <a:pt x="21269706" y="323850"/>
                  </a:lnTo>
                  <a:cubicBezTo>
                    <a:pt x="21269706" y="408051"/>
                    <a:pt x="21201507" y="476250"/>
                    <a:pt x="21117306" y="476250"/>
                  </a:cubicBezTo>
                  <a:lnTo>
                    <a:pt x="152400" y="476250"/>
                  </a:lnTo>
                  <a:cubicBezTo>
                    <a:pt x="68199" y="476250"/>
                    <a:pt x="0" y="408051"/>
                    <a:pt x="0" y="323850"/>
                  </a:cubicBezTo>
                  <a:close/>
                </a:path>
              </a:pathLst>
            </a:custGeom>
            <a:solidFill>
              <a:srgbClr val="1C1E23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289304" y="9189720"/>
            <a:ext cx="15499080" cy="260604"/>
            <a:chOff x="0" y="0"/>
            <a:chExt cx="20665440" cy="34747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0665439" cy="347472"/>
            </a:xfrm>
            <a:custGeom>
              <a:avLst/>
              <a:gdLst/>
              <a:ahLst/>
              <a:cxnLst/>
              <a:rect r="r" b="b" t="t" l="l"/>
              <a:pathLst>
                <a:path h="347472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8846" r="0" b="-1108846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20665440" cy="366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777B86"/>
                  </a:solidFill>
                  <a:latin typeface="Arial"/>
                  <a:ea typeface="Arial"/>
                  <a:cs typeface="Arial"/>
                  <a:sym typeface="Arial"/>
                </a:rPr>
                <a:t>IMPORTANTE: resultados de modelo matemático, com Vcore 2,5 V, ambiente a 25 °C e fluxo de ar moderado — não são medições de uma placa física.</a:t>
              </a:r>
            </a:p>
          </p:txBody>
        </p:sp>
      </p:grpSp>
      <p:sp>
        <p:nvSpPr>
          <p:cNvPr name="AutoShape 96" id="96"/>
          <p:cNvSpPr/>
          <p:nvPr/>
        </p:nvSpPr>
        <p:spPr>
          <a:xfrm rot="2460">
            <a:off x="1064133" y="9623870"/>
            <a:ext cx="16155162" cy="0"/>
          </a:xfrm>
          <a:prstGeom prst="line">
            <a:avLst/>
          </a:prstGeom>
          <a:ln cap="rnd" w="9525">
            <a:solidFill>
              <a:srgbClr val="2A2C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7" id="97"/>
          <p:cNvGrpSpPr/>
          <p:nvPr/>
        </p:nvGrpSpPr>
        <p:grpSpPr>
          <a:xfrm rot="0">
            <a:off x="1097280" y="9765792"/>
            <a:ext cx="11932920" cy="219456"/>
            <a:chOff x="0" y="0"/>
            <a:chExt cx="15910560" cy="29260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5910561" cy="292608"/>
            </a:xfrm>
            <a:custGeom>
              <a:avLst/>
              <a:gdLst/>
              <a:ahLst/>
              <a:cxnLst/>
              <a:rect r="r" b="b" t="t" l="l"/>
              <a:pathLst>
                <a:path h="292608" w="15910561">
                  <a:moveTo>
                    <a:pt x="0" y="0"/>
                  </a:moveTo>
                  <a:lnTo>
                    <a:pt x="15910561" y="0"/>
                  </a:lnTo>
                  <a:lnTo>
                    <a:pt x="15910561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9498" r="0" b="-1009498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1591056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89">
                  <a:solidFill>
                    <a:srgbClr val="777B8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SST-1 OC LAB  •  SIMULAÇÃO COMPUTACIONAL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17030700" y="9833610"/>
            <a:ext cx="1017118" cy="377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39"/>
              </a:lnSpc>
            </a:pPr>
            <a:r>
              <a:rPr lang="en-US" sz="1200">
                <a:solidFill>
                  <a:srgbClr val="71758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DAHYMufDG_k</dc:identifier>
  <dcterms:modified xsi:type="dcterms:W3CDTF">2011-08-01T06:04:30Z</dcterms:modified>
  <cp:revision>1</cp:revision>
  <dc:title>Apresentacao_SST1_OC_Lab.pptx</dc:title>
</cp:coreProperties>
</file>